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Lst>
  <p:sldSz cx="12179300" cy="6858000"/>
  <p:notesSz cx="121793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04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78438"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899275" y="0"/>
            <a:ext cx="5276850" cy="344488"/>
          </a:xfrm>
          <a:prstGeom prst="rect">
            <a:avLst/>
          </a:prstGeom>
        </p:spPr>
        <p:txBody>
          <a:bodyPr vert="horz" lIns="91440" tIns="45720" rIns="91440" bIns="45720" rtlCol="0"/>
          <a:lstStyle>
            <a:lvl1pPr algn="r">
              <a:defRPr sz="1200"/>
            </a:lvl1pPr>
          </a:lstStyle>
          <a:p>
            <a:fld id="{65387E4D-5002-45EC-A887-379C4EA551C5}" type="datetimeFigureOut">
              <a:rPr lang="en-IN" smtClean="0"/>
              <a:t>05-08-2026</a:t>
            </a:fld>
            <a:endParaRPr lang="en-IN"/>
          </a:p>
        </p:txBody>
      </p:sp>
      <p:sp>
        <p:nvSpPr>
          <p:cNvPr id="4" name="Slide Image Placeholder 3"/>
          <p:cNvSpPr>
            <a:spLocks noGrp="1" noRot="1" noChangeAspect="1"/>
          </p:cNvSpPr>
          <p:nvPr>
            <p:ph type="sldImg" idx="2"/>
          </p:nvPr>
        </p:nvSpPr>
        <p:spPr>
          <a:xfrm>
            <a:off x="4033838" y="857250"/>
            <a:ext cx="4111625"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7613" y="3300413"/>
            <a:ext cx="9744075"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78438"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899275" y="6513513"/>
            <a:ext cx="5276850" cy="344487"/>
          </a:xfrm>
          <a:prstGeom prst="rect">
            <a:avLst/>
          </a:prstGeom>
        </p:spPr>
        <p:txBody>
          <a:bodyPr vert="horz" lIns="91440" tIns="45720" rIns="91440" bIns="45720" rtlCol="0" anchor="b"/>
          <a:lstStyle>
            <a:lvl1pPr algn="r">
              <a:defRPr sz="1200"/>
            </a:lvl1pPr>
          </a:lstStyle>
          <a:p>
            <a:fld id="{6E288083-5F0F-45BD-88EA-74411B325E83}" type="slidenum">
              <a:rPr lang="en-IN" smtClean="0"/>
              <a:t>‹#›</a:t>
            </a:fld>
            <a:endParaRPr lang="en-IN"/>
          </a:p>
        </p:txBody>
      </p:sp>
    </p:spTree>
    <p:extLst>
      <p:ext uri="{BB962C8B-B14F-4D97-AF65-F5344CB8AC3E}">
        <p14:creationId xmlns:p14="http://schemas.microsoft.com/office/powerpoint/2010/main" val="992965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Speaker Notes: </a:t>
            </a:r>
            <a:r>
              <a:rPr lang="en-GB" sz="1200" kern="1200" dirty="0">
                <a:solidFill>
                  <a:schemeClr val="tx1"/>
                </a:solidFill>
                <a:effectLst/>
                <a:latin typeface="+mn-lt"/>
                <a:ea typeface="+mn-ea"/>
                <a:cs typeface="+mn-cs"/>
              </a:rPr>
              <a:t>Floods are among the worst natural disasters that have damage millions of people, and the calamity has had a harmful impact on infrastructure, agriculture, and livelihoods. Floods are becoming more frequent and harder to predict precisely due to the growing variability in climate. Machine learning can be used to predict flood risks by examining historical data of rainfall and river observation to uncover hide trends. The research will contribute to making timely decisions and disaster preparedness by predicting the disaster using data.</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3</a:t>
            </a:fld>
            <a:endParaRPr lang="en-IN"/>
          </a:p>
        </p:txBody>
      </p:sp>
    </p:spTree>
    <p:extLst>
      <p:ext uri="{BB962C8B-B14F-4D97-AF65-F5344CB8AC3E}">
        <p14:creationId xmlns:p14="http://schemas.microsoft.com/office/powerpoint/2010/main" val="3576674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Speaker Notes: </a:t>
            </a:r>
            <a:r>
              <a:rPr lang="en-GB" sz="1200" kern="1200" dirty="0">
                <a:solidFill>
                  <a:schemeClr val="tx1"/>
                </a:solidFill>
                <a:effectLst/>
                <a:latin typeface="+mn-lt"/>
                <a:ea typeface="+mn-ea"/>
                <a:cs typeface="+mn-cs"/>
              </a:rPr>
              <a:t>Predicting floods has been a problem because the occurrence of floods is related to the relationship between rainfall, river discharge, water levels, elevation and other environmental conditions. Conventional hydrological models are also very demanding about the amount of measurements that must be done and they may not be easily generalised in other regions. The research question that will be answered using this project is the ability of machine learning techniques to deliver more credible flood-risk classification by comparing various algorithms with the same preprocessing, validation and evaluation parameters so that the performance of the algorithms can be compared in a fair and objective manner.</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4</a:t>
            </a:fld>
            <a:endParaRPr lang="en-IN"/>
          </a:p>
        </p:txBody>
      </p:sp>
    </p:spTree>
    <p:extLst>
      <p:ext uri="{BB962C8B-B14F-4D97-AF65-F5344CB8AC3E}">
        <p14:creationId xmlns:p14="http://schemas.microsoft.com/office/powerpoint/2010/main" val="3517461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Speaker Notes: </a:t>
            </a:r>
            <a:r>
              <a:rPr lang="en-GB" sz="1200" kern="1200" dirty="0">
                <a:solidFill>
                  <a:schemeClr val="tx1"/>
                </a:solidFill>
                <a:effectLst/>
                <a:latin typeface="+mn-lt"/>
                <a:ea typeface="+mn-ea"/>
                <a:cs typeface="+mn-cs"/>
              </a:rPr>
              <a:t>The key aim of the research is to compare the selected machine learning algorithms to predict flood-risk based on historical rainfall and river observation data. The paper also addresses the impacts of environmental and hydrological factors on the patterns of floods. Consistent preprocessing and validation procedures will be used to determine model performance. Lastly, the study will determine the best prediction method and give suggestions on how the management of flood risks can be better.</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5</a:t>
            </a:fld>
            <a:endParaRPr lang="en-IN"/>
          </a:p>
        </p:txBody>
      </p:sp>
    </p:spTree>
    <p:extLst>
      <p:ext uri="{BB962C8B-B14F-4D97-AF65-F5344CB8AC3E}">
        <p14:creationId xmlns:p14="http://schemas.microsoft.com/office/powerpoint/2010/main" val="946123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Speaker Notes: </a:t>
            </a:r>
            <a:r>
              <a:rPr lang="en-GB" sz="1200" kern="1200" dirty="0">
                <a:solidFill>
                  <a:schemeClr val="tx1"/>
                </a:solidFill>
                <a:effectLst/>
                <a:latin typeface="+mn-lt"/>
                <a:ea typeface="+mn-ea"/>
                <a:cs typeface="+mn-cs"/>
              </a:rPr>
              <a:t>This project is based on a quantitative research methodology, utilizing secondary flood-risk data and trained machine learning methods. First, the exploratory data analysis is performed to learn about data quality and relations between features. The data is then pre-processed, and then various classification algorithms are trained under the same conditions. Lastly, model performance is compared through model validation and standard classification measures, which enables objective comparison to be done to identify the best flood-risk prediction model</a:t>
            </a:r>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6</a:t>
            </a:fld>
            <a:endParaRPr lang="en-IN"/>
          </a:p>
        </p:txBody>
      </p:sp>
    </p:spTree>
    <p:extLst>
      <p:ext uri="{BB962C8B-B14F-4D97-AF65-F5344CB8AC3E}">
        <p14:creationId xmlns:p14="http://schemas.microsoft.com/office/powerpoint/2010/main" val="3023658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Speaker Notes </a:t>
            </a:r>
            <a:endParaRPr lang="en-IN"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 well-organized sixteen-week Gantt chart manages the project and determines the chronology of research activities and project milestones. The plan will start with planning and literature review, data preparation, model development, testing and evaluation. Dissertation writing is in tandem with technical implementation so that consistency is maintained. This orderly way makes it easier to track the progress made, deadlines and make sure that all the project goals are achieved within the time given</a:t>
            </a:r>
            <a:r>
              <a:rPr lang="en-IN" sz="1200" kern="1200" dirty="0">
                <a:solidFill>
                  <a:schemeClr val="tx1"/>
                </a:solidFill>
                <a:effectLst/>
                <a:latin typeface="+mn-lt"/>
                <a:ea typeface="+mn-ea"/>
                <a:cs typeface="+mn-cs"/>
              </a:rPr>
              <a:t>.</a:t>
            </a: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7</a:t>
            </a:fld>
            <a:endParaRPr lang="en-IN"/>
          </a:p>
        </p:txBody>
      </p:sp>
    </p:spTree>
    <p:extLst>
      <p:ext uri="{BB962C8B-B14F-4D97-AF65-F5344CB8AC3E}">
        <p14:creationId xmlns:p14="http://schemas.microsoft.com/office/powerpoint/2010/main" val="304890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Speaker Notes: </a:t>
            </a:r>
            <a:r>
              <a:rPr lang="en-GB" sz="1200" kern="1200" dirty="0">
                <a:solidFill>
                  <a:schemeClr val="tx1"/>
                </a:solidFill>
                <a:effectLst/>
                <a:latin typeface="+mn-lt"/>
                <a:ea typeface="+mn-ea"/>
                <a:cs typeface="+mn-cs"/>
              </a:rPr>
              <a:t>The literature review demonstrates that machine learning has made a great leap in flood-risk prediction through the analysis of rainfall, river and environmental data. Past literature has indicated good performance with the help of various algorithms, such as Random Forest,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SVM and deep learning methods. Nevertheless, none of the algorithms was always the best in all the datasets. Such results indicate the relevance of this study, which compares various machine learning models under the same preprocessing, validation and evaluation criteria to be fair.</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8</a:t>
            </a:fld>
            <a:endParaRPr lang="en-IN"/>
          </a:p>
        </p:txBody>
      </p:sp>
    </p:spTree>
    <p:extLst>
      <p:ext uri="{BB962C8B-B14F-4D97-AF65-F5344CB8AC3E}">
        <p14:creationId xmlns:p14="http://schemas.microsoft.com/office/powerpoint/2010/main" val="306120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Speaker Notes </a:t>
            </a:r>
            <a:endParaRPr lang="en-IN"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machine learning framework uses a stacking ensemble approach to improve flood-risk prediction. Random Forest and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are trained as base learners to capture different patterns within the historical flood dataset. Their predictions are then combined using Logistic Regression as the meta-classifier, producing the final prediction. This ensemble strategy aims to improve robustness and predictive performance compared with individual models before evaluation using standard classification metrics.</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9</a:t>
            </a:fld>
            <a:endParaRPr lang="en-IN"/>
          </a:p>
        </p:txBody>
      </p:sp>
    </p:spTree>
    <p:extLst>
      <p:ext uri="{BB962C8B-B14F-4D97-AF65-F5344CB8AC3E}">
        <p14:creationId xmlns:p14="http://schemas.microsoft.com/office/powerpoint/2010/main" val="2372464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Speaker Notes :</a:t>
            </a:r>
          </a:p>
          <a:p>
            <a:r>
              <a:rPr lang="en-IN" sz="1200" kern="1200" dirty="0">
                <a:solidFill>
                  <a:schemeClr val="tx1"/>
                </a:solidFill>
                <a:effectLst/>
                <a:latin typeface="+mn-lt"/>
                <a:ea typeface="+mn-ea"/>
                <a:cs typeface="+mn-cs"/>
              </a:rPr>
              <a:t>The developed prediction system allows users to enter environmental and hydrological parameters, including rainfall, water level, river discharge and land characteristics. These inputs are processed by the stacking ensemble model, which combines Random Forest, </a:t>
            </a:r>
            <a:r>
              <a:rPr lang="en-IN" sz="1200" kern="1200" dirty="0" err="1">
                <a:solidFill>
                  <a:schemeClr val="tx1"/>
                </a:solidFill>
                <a:effectLst/>
                <a:latin typeface="+mn-lt"/>
                <a:ea typeface="+mn-ea"/>
                <a:cs typeface="+mn-cs"/>
              </a:rPr>
              <a:t>XGBoost</a:t>
            </a:r>
            <a:r>
              <a:rPr lang="en-IN" sz="1200" kern="1200" dirty="0">
                <a:solidFill>
                  <a:schemeClr val="tx1"/>
                </a:solidFill>
                <a:effectLst/>
                <a:latin typeface="+mn-lt"/>
                <a:ea typeface="+mn-ea"/>
                <a:cs typeface="+mn-cs"/>
              </a:rPr>
              <a:t> and Logistic Regression to generate the final prediction. The interface displays both the predicted flood-risk level and a confidence score, demonstrating the practical application of the proposed machine learning framework.</a:t>
            </a: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10</a:t>
            </a:fld>
            <a:endParaRPr lang="en-IN"/>
          </a:p>
        </p:txBody>
      </p:sp>
    </p:spTree>
    <p:extLst>
      <p:ext uri="{BB962C8B-B14F-4D97-AF65-F5344CB8AC3E}">
        <p14:creationId xmlns:p14="http://schemas.microsoft.com/office/powerpoint/2010/main" val="24418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Speaker Notes:</a:t>
            </a:r>
            <a:endParaRPr lang="en-IN"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project contributes by developing a complete machine learning framework for flood-risk prediction using historical rainfall and river observation data. It includes systematic data preprocessing, feature preparation and implementation of multiple classification algorithms. Hyperparameter tuning and standard evaluation metrics are applied to ensure fair comparison between models. This framework supports identifying the most suitable prediction approach while providing a reproducible methodology for comparative flood-risk analysis and future research.</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11</a:t>
            </a:fld>
            <a:endParaRPr lang="en-IN"/>
          </a:p>
        </p:txBody>
      </p:sp>
    </p:spTree>
    <p:extLst>
      <p:ext uri="{BB962C8B-B14F-4D97-AF65-F5344CB8AC3E}">
        <p14:creationId xmlns:p14="http://schemas.microsoft.com/office/powerpoint/2010/main" val="451745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Speaker Notes </a:t>
            </a:r>
            <a:endParaRPr lang="en-IN"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project has successfully established the foundation for a machine learning-based flood-risk prediction system. The literature review, dataset preparation, preprocessing and model development have been completed according to the planned schedule. Initial prediction results demonstrate the feasibility of the proposed approach. The remaining work includes comprehensive model evaluation, comparative performance analysis, interpretation of findings and completion of the dissertation before the final project submission and assessment.</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E288083-5F0F-45BD-88EA-74411B325E83}" type="slidenum">
              <a:rPr lang="en-IN" smtClean="0"/>
              <a:t>12</a:t>
            </a:fld>
            <a:endParaRPr lang="en-IN"/>
          </a:p>
        </p:txBody>
      </p:sp>
    </p:spTree>
    <p:extLst>
      <p:ext uri="{BB962C8B-B14F-4D97-AF65-F5344CB8AC3E}">
        <p14:creationId xmlns:p14="http://schemas.microsoft.com/office/powerpoint/2010/main" val="4238338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3447" y="2125980"/>
            <a:ext cx="10352405" cy="144018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6895" y="3840480"/>
            <a:ext cx="8525510" cy="1714500"/>
          </a:xfrm>
          <a:prstGeom prst="rect">
            <a:avLst/>
          </a:prstGeom>
        </p:spPr>
        <p:txBody>
          <a:bodyPr wrap="square" lIns="0" tIns="0" rIns="0" bIns="0">
            <a:spAutoFit/>
          </a:bodyPr>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sz="half" idx="2"/>
          </p:nvPr>
        </p:nvSpPr>
        <p:spPr>
          <a:xfrm>
            <a:off x="608965" y="1577340"/>
            <a:ext cx="5297995"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2339" y="1577340"/>
            <a:ext cx="5297995"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79300" cy="6851015"/>
          </a:xfrm>
          <a:custGeom>
            <a:avLst/>
            <a:gdLst/>
            <a:ahLst/>
            <a:cxnLst/>
            <a:rect l="l" t="t" r="r" b="b"/>
            <a:pathLst>
              <a:path w="12179300" h="6851015">
                <a:moveTo>
                  <a:pt x="12179299" y="6850856"/>
                </a:moveTo>
                <a:lnTo>
                  <a:pt x="0" y="6850856"/>
                </a:lnTo>
                <a:lnTo>
                  <a:pt x="0" y="0"/>
                </a:lnTo>
                <a:lnTo>
                  <a:pt x="12179299" y="0"/>
                </a:lnTo>
                <a:lnTo>
                  <a:pt x="12179299" y="6850856"/>
                </a:lnTo>
                <a:close/>
              </a:path>
            </a:pathLst>
          </a:custGeom>
          <a:solidFill>
            <a:srgbClr val="F7F5CA"/>
          </a:solidFill>
        </p:spPr>
        <p:txBody>
          <a:bodyPr wrap="square" lIns="0" tIns="0" rIns="0" bIns="0" rtlCol="0"/>
          <a:lstStyle/>
          <a:p>
            <a:endParaRPr/>
          </a:p>
        </p:txBody>
      </p:sp>
      <p:sp>
        <p:nvSpPr>
          <p:cNvPr id="17" name="bg object 17"/>
          <p:cNvSpPr/>
          <p:nvPr/>
        </p:nvSpPr>
        <p:spPr>
          <a:xfrm>
            <a:off x="341643" y="673128"/>
            <a:ext cx="11508105" cy="0"/>
          </a:xfrm>
          <a:custGeom>
            <a:avLst/>
            <a:gdLst/>
            <a:ahLst/>
            <a:cxnLst/>
            <a:rect l="l" t="t" r="r" b="b"/>
            <a:pathLst>
              <a:path w="11508105">
                <a:moveTo>
                  <a:pt x="0" y="0"/>
                </a:moveTo>
                <a:lnTo>
                  <a:pt x="11507999" y="0"/>
                </a:lnTo>
              </a:path>
            </a:pathLst>
          </a:custGeom>
          <a:ln w="19030">
            <a:solidFill>
              <a:srgbClr val="053432"/>
            </a:solidFill>
          </a:ln>
        </p:spPr>
        <p:txBody>
          <a:bodyPr wrap="square" lIns="0" tIns="0" rIns="0" bIns="0" rtlCol="0"/>
          <a:lstStyle/>
          <a:p>
            <a:endParaRPr/>
          </a:p>
        </p:txBody>
      </p:sp>
      <p:sp>
        <p:nvSpPr>
          <p:cNvPr id="2" name="Holder 2"/>
          <p:cNvSpPr>
            <a:spLocks noGrp="1"/>
          </p:cNvSpPr>
          <p:nvPr>
            <p:ph type="title"/>
          </p:nvPr>
        </p:nvSpPr>
        <p:spPr>
          <a:xfrm>
            <a:off x="3880402" y="23262"/>
            <a:ext cx="4418494" cy="518795"/>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a:xfrm>
            <a:off x="219232" y="1469876"/>
            <a:ext cx="10456545" cy="4107179"/>
          </a:xfrm>
          <a:prstGeom prst="rect">
            <a:avLst/>
          </a:prstGeom>
        </p:spPr>
        <p:txBody>
          <a:bodyPr wrap="square" lIns="0" tIns="0" rIns="0" bIns="0">
            <a:spAutoFit/>
          </a:bodyPr>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4140962" y="6377940"/>
            <a:ext cx="3897376"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8965" y="6377940"/>
            <a:ext cx="2801239"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8/5/2026</a:t>
            </a:fld>
            <a:endParaRPr lang="en-US"/>
          </a:p>
        </p:txBody>
      </p:sp>
      <p:sp>
        <p:nvSpPr>
          <p:cNvPr id="6" name="Holder 6"/>
          <p:cNvSpPr>
            <a:spLocks noGrp="1"/>
          </p:cNvSpPr>
          <p:nvPr>
            <p:ph type="sldNum" sz="quarter" idx="7"/>
          </p:nvPr>
        </p:nvSpPr>
        <p:spPr>
          <a:xfrm>
            <a:off x="8769096" y="6377940"/>
            <a:ext cx="2801239"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79300" cy="6851015"/>
          </a:xfrm>
          <a:custGeom>
            <a:avLst/>
            <a:gdLst/>
            <a:ahLst/>
            <a:cxnLst/>
            <a:rect l="l" t="t" r="r" b="b"/>
            <a:pathLst>
              <a:path w="12179300" h="6851015">
                <a:moveTo>
                  <a:pt x="12179299" y="6850856"/>
                </a:moveTo>
                <a:lnTo>
                  <a:pt x="0" y="6850856"/>
                </a:lnTo>
                <a:lnTo>
                  <a:pt x="0" y="0"/>
                </a:lnTo>
                <a:lnTo>
                  <a:pt x="12179299" y="0"/>
                </a:lnTo>
                <a:lnTo>
                  <a:pt x="12179299" y="6850856"/>
                </a:lnTo>
                <a:close/>
              </a:path>
            </a:pathLst>
          </a:custGeom>
          <a:solidFill>
            <a:srgbClr val="053432"/>
          </a:solidFill>
        </p:spPr>
        <p:txBody>
          <a:bodyPr wrap="square" lIns="0" tIns="0" rIns="0" bIns="0" rtlCol="0"/>
          <a:lstStyle/>
          <a:p>
            <a:endParaRPr/>
          </a:p>
        </p:txBody>
      </p:sp>
      <p:sp>
        <p:nvSpPr>
          <p:cNvPr id="3" name="object 3"/>
          <p:cNvSpPr/>
          <p:nvPr/>
        </p:nvSpPr>
        <p:spPr>
          <a:xfrm>
            <a:off x="335650" y="546903"/>
            <a:ext cx="11508105" cy="0"/>
          </a:xfrm>
          <a:custGeom>
            <a:avLst/>
            <a:gdLst/>
            <a:ahLst/>
            <a:cxnLst/>
            <a:rect l="l" t="t" r="r" b="b"/>
            <a:pathLst>
              <a:path w="11508105">
                <a:moveTo>
                  <a:pt x="0" y="0"/>
                </a:moveTo>
                <a:lnTo>
                  <a:pt x="11507999" y="0"/>
                </a:lnTo>
              </a:path>
            </a:pathLst>
          </a:custGeom>
          <a:ln w="19030">
            <a:solidFill>
              <a:srgbClr val="F1B57C"/>
            </a:solidFill>
          </a:ln>
        </p:spPr>
        <p:txBody>
          <a:bodyPr wrap="square" lIns="0" tIns="0" rIns="0" bIns="0" rtlCol="0"/>
          <a:lstStyle/>
          <a:p>
            <a:endParaRPr/>
          </a:p>
        </p:txBody>
      </p:sp>
      <p:sp>
        <p:nvSpPr>
          <p:cNvPr id="4" name="object 4"/>
          <p:cNvSpPr/>
          <p:nvPr/>
        </p:nvSpPr>
        <p:spPr>
          <a:xfrm>
            <a:off x="335650" y="6308904"/>
            <a:ext cx="11508105" cy="0"/>
          </a:xfrm>
          <a:custGeom>
            <a:avLst/>
            <a:gdLst/>
            <a:ahLst/>
            <a:cxnLst/>
            <a:rect l="l" t="t" r="r" b="b"/>
            <a:pathLst>
              <a:path w="11508105">
                <a:moveTo>
                  <a:pt x="0" y="0"/>
                </a:moveTo>
                <a:lnTo>
                  <a:pt x="11507999" y="0"/>
                </a:lnTo>
              </a:path>
            </a:pathLst>
          </a:custGeom>
          <a:ln w="19030">
            <a:solidFill>
              <a:srgbClr val="F1B57C"/>
            </a:solidFill>
          </a:ln>
        </p:spPr>
        <p:txBody>
          <a:bodyPr wrap="square" lIns="0" tIns="0" rIns="0" bIns="0" rtlCol="0"/>
          <a:lstStyle/>
          <a:p>
            <a:endParaRPr/>
          </a:p>
        </p:txBody>
      </p:sp>
      <p:sp>
        <p:nvSpPr>
          <p:cNvPr id="5" name="object 5"/>
          <p:cNvSpPr txBox="1"/>
          <p:nvPr/>
        </p:nvSpPr>
        <p:spPr>
          <a:xfrm>
            <a:off x="2508250" y="2639502"/>
            <a:ext cx="6324600" cy="843180"/>
          </a:xfrm>
          <a:prstGeom prst="rect">
            <a:avLst/>
          </a:prstGeom>
        </p:spPr>
        <p:txBody>
          <a:bodyPr vert="horz" wrap="square" lIns="0" tIns="12065" rIns="0" bIns="0" rtlCol="0">
            <a:spAutoFit/>
          </a:bodyPr>
          <a:lstStyle/>
          <a:p>
            <a:pPr algn="ctr"/>
            <a:r>
              <a:rPr lang="en-GB" sz="1800" b="1" dirty="0">
                <a:solidFill>
                  <a:schemeClr val="bg2">
                    <a:lumMod val="75000"/>
                  </a:schemeClr>
                </a:solidFill>
              </a:rPr>
              <a:t>Analysing Machine Learning Methods for Predicting Flood Risk Using Historical Rainfall and River Observation Data</a:t>
            </a:r>
            <a:endParaRPr lang="en-IN" sz="1800" dirty="0">
              <a:solidFill>
                <a:schemeClr val="bg2">
                  <a:lumMod val="75000"/>
                </a:schemeClr>
              </a:solidFill>
            </a:endParaRPr>
          </a:p>
        </p:txBody>
      </p:sp>
      <p:sp>
        <p:nvSpPr>
          <p:cNvPr id="6" name="object 6"/>
          <p:cNvSpPr txBox="1"/>
          <p:nvPr/>
        </p:nvSpPr>
        <p:spPr>
          <a:xfrm>
            <a:off x="2365799" y="4505435"/>
            <a:ext cx="8219651" cy="1027845"/>
          </a:xfrm>
          <a:prstGeom prst="rect">
            <a:avLst/>
          </a:prstGeom>
        </p:spPr>
        <p:txBody>
          <a:bodyPr vert="horz" wrap="square" lIns="0" tIns="27305" rIns="0" bIns="0" rtlCol="0">
            <a:spAutoFit/>
          </a:bodyPr>
          <a:lstStyle/>
          <a:p>
            <a:pPr marL="12700" marR="5080">
              <a:lnSpc>
                <a:spcPts val="3820"/>
              </a:lnSpc>
              <a:spcBef>
                <a:spcPts val="215"/>
              </a:spcBef>
            </a:pPr>
            <a:r>
              <a:rPr sz="3200" dirty="0">
                <a:solidFill>
                  <a:srgbClr val="F7F5CA"/>
                </a:solidFill>
                <a:latin typeface="Calibri"/>
                <a:cs typeface="Calibri"/>
              </a:rPr>
              <a:t>Student</a:t>
            </a:r>
            <a:r>
              <a:rPr sz="3200" spc="-140" dirty="0">
                <a:solidFill>
                  <a:srgbClr val="F7F5CA"/>
                </a:solidFill>
                <a:latin typeface="Calibri"/>
                <a:cs typeface="Calibri"/>
              </a:rPr>
              <a:t> </a:t>
            </a:r>
            <a:r>
              <a:rPr sz="3200" spc="-10" dirty="0">
                <a:solidFill>
                  <a:srgbClr val="F7F5CA"/>
                </a:solidFill>
                <a:latin typeface="Calibri"/>
                <a:cs typeface="Calibri"/>
              </a:rPr>
              <a:t>Name:</a:t>
            </a:r>
            <a:r>
              <a:rPr lang="en-IN" sz="3200" spc="-10" dirty="0">
                <a:solidFill>
                  <a:srgbClr val="F7F5CA"/>
                </a:solidFill>
                <a:latin typeface="Calibri"/>
                <a:cs typeface="Calibri"/>
              </a:rPr>
              <a:t> </a:t>
            </a:r>
            <a:r>
              <a:rPr lang="en-IN" sz="3200" spc="-10" dirty="0" err="1">
                <a:solidFill>
                  <a:srgbClr val="F7F5CA"/>
                </a:solidFill>
                <a:latin typeface="Calibri"/>
                <a:cs typeface="Calibri"/>
              </a:rPr>
              <a:t>Nathish</a:t>
            </a:r>
            <a:r>
              <a:rPr lang="en-IN" sz="3200" spc="-10" dirty="0">
                <a:solidFill>
                  <a:srgbClr val="F7F5CA"/>
                </a:solidFill>
                <a:latin typeface="Calibri"/>
                <a:cs typeface="Calibri"/>
              </a:rPr>
              <a:t> Moorthy</a:t>
            </a:r>
            <a:r>
              <a:rPr sz="3200" spc="-10" dirty="0">
                <a:solidFill>
                  <a:srgbClr val="F7F5CA"/>
                </a:solidFill>
                <a:latin typeface="Calibri"/>
                <a:cs typeface="Calibri"/>
              </a:rPr>
              <a:t> </a:t>
            </a:r>
            <a:endParaRPr lang="en-IN" sz="3200" spc="-10" dirty="0">
              <a:solidFill>
                <a:srgbClr val="F7F5CA"/>
              </a:solidFill>
              <a:latin typeface="Calibri"/>
              <a:cs typeface="Calibri"/>
            </a:endParaRPr>
          </a:p>
          <a:p>
            <a:pPr marL="12700" marR="5080">
              <a:lnSpc>
                <a:spcPts val="3820"/>
              </a:lnSpc>
              <a:spcBef>
                <a:spcPts val="215"/>
              </a:spcBef>
            </a:pPr>
            <a:r>
              <a:rPr sz="3200" dirty="0">
                <a:solidFill>
                  <a:srgbClr val="F7F5CA"/>
                </a:solidFill>
                <a:latin typeface="Calibri"/>
                <a:cs typeface="Calibri"/>
              </a:rPr>
              <a:t>Supervisor</a:t>
            </a:r>
            <a:r>
              <a:rPr sz="3200" spc="-120" dirty="0">
                <a:solidFill>
                  <a:srgbClr val="F7F5CA"/>
                </a:solidFill>
                <a:latin typeface="Calibri"/>
                <a:cs typeface="Calibri"/>
              </a:rPr>
              <a:t> </a:t>
            </a:r>
            <a:r>
              <a:rPr sz="3200" spc="-20" dirty="0">
                <a:solidFill>
                  <a:srgbClr val="F7F5CA"/>
                </a:solidFill>
                <a:latin typeface="Calibri"/>
                <a:cs typeface="Calibri"/>
              </a:rPr>
              <a:t>Name</a:t>
            </a:r>
            <a:r>
              <a:rPr lang="en-IN" sz="3200" spc="-20" dirty="0">
                <a:solidFill>
                  <a:srgbClr val="F7F5CA"/>
                </a:solidFill>
                <a:latin typeface="Calibri"/>
                <a:cs typeface="Calibri"/>
              </a:rPr>
              <a:t>: Mr. Muhammad Rehan Usman</a:t>
            </a:r>
            <a:endParaRPr sz="3200" dirty="0">
              <a:latin typeface="Calibri"/>
              <a:cs typeface="Calibri"/>
            </a:endParaRPr>
          </a:p>
        </p:txBody>
      </p:sp>
      <p:sp>
        <p:nvSpPr>
          <p:cNvPr id="7" name="object 7" descr="$PPTXTitle"/>
          <p:cNvSpPr txBox="1">
            <a:spLocks noGrp="1"/>
          </p:cNvSpPr>
          <p:nvPr>
            <p:ph type="title"/>
          </p:nvPr>
        </p:nvSpPr>
        <p:spPr>
          <a:xfrm>
            <a:off x="4579482" y="951761"/>
            <a:ext cx="3027045" cy="756285"/>
          </a:xfrm>
          <a:prstGeom prst="rect">
            <a:avLst/>
          </a:prstGeom>
        </p:spPr>
        <p:txBody>
          <a:bodyPr vert="horz" wrap="square" lIns="0" tIns="12065" rIns="0" bIns="0" rtlCol="0">
            <a:spAutoFit/>
          </a:bodyPr>
          <a:lstStyle/>
          <a:p>
            <a:pPr marL="12700">
              <a:lnSpc>
                <a:spcPct val="100000"/>
              </a:lnSpc>
              <a:spcBef>
                <a:spcPts val="95"/>
              </a:spcBef>
            </a:pPr>
            <a:r>
              <a:rPr sz="4800" b="1" dirty="0">
                <a:solidFill>
                  <a:srgbClr val="00C386"/>
                </a:solidFill>
                <a:latin typeface="Calibri"/>
                <a:cs typeface="Calibri"/>
              </a:rPr>
              <a:t>MSc</a:t>
            </a:r>
            <a:r>
              <a:rPr sz="4800" b="1" spc="-90" dirty="0">
                <a:solidFill>
                  <a:srgbClr val="00C386"/>
                </a:solidFill>
                <a:latin typeface="Calibri"/>
                <a:cs typeface="Calibri"/>
              </a:rPr>
              <a:t> </a:t>
            </a:r>
            <a:r>
              <a:rPr sz="4800" b="1" spc="-10" dirty="0">
                <a:solidFill>
                  <a:srgbClr val="00C386"/>
                </a:solidFill>
                <a:latin typeface="Calibri"/>
                <a:cs typeface="Calibri"/>
              </a:rPr>
              <a:t>Project</a:t>
            </a:r>
            <a:endParaRPr sz="4800">
              <a:latin typeface="Calibri"/>
              <a:cs typeface="Calibri"/>
            </a:endParaRPr>
          </a:p>
        </p:txBody>
      </p:sp>
      <p:sp>
        <p:nvSpPr>
          <p:cNvPr id="8" name="object 8"/>
          <p:cNvSpPr txBox="1"/>
          <p:nvPr/>
        </p:nvSpPr>
        <p:spPr>
          <a:xfrm>
            <a:off x="4170333" y="1700280"/>
            <a:ext cx="3844925" cy="720069"/>
          </a:xfrm>
          <a:prstGeom prst="rect">
            <a:avLst/>
          </a:prstGeom>
        </p:spPr>
        <p:txBody>
          <a:bodyPr vert="horz" wrap="square" lIns="0" tIns="12065" rIns="0" bIns="0" rtlCol="0">
            <a:spAutoFit/>
          </a:bodyPr>
          <a:lstStyle/>
          <a:p>
            <a:pPr marL="11430" algn="ctr">
              <a:lnSpc>
                <a:spcPct val="100000"/>
              </a:lnSpc>
              <a:spcBef>
                <a:spcPts val="95"/>
              </a:spcBef>
            </a:pPr>
            <a:r>
              <a:rPr sz="2200" spc="-10" dirty="0">
                <a:solidFill>
                  <a:srgbClr val="00C386"/>
                </a:solidFill>
                <a:latin typeface="Calibri"/>
                <a:cs typeface="Calibri"/>
              </a:rPr>
              <a:t>(CMP060L050S)</a:t>
            </a:r>
            <a:endParaRPr sz="2200" dirty="0">
              <a:latin typeface="Calibri"/>
              <a:cs typeface="Calibri"/>
            </a:endParaRPr>
          </a:p>
          <a:p>
            <a:pPr algn="ctr">
              <a:lnSpc>
                <a:spcPct val="100000"/>
              </a:lnSpc>
              <a:spcBef>
                <a:spcPts val="10"/>
              </a:spcBef>
            </a:pPr>
            <a:r>
              <a:rPr lang="en-US" sz="2400" spc="-20" dirty="0">
                <a:solidFill>
                  <a:srgbClr val="F7F5CA"/>
                </a:solidFill>
                <a:latin typeface="Calibri"/>
                <a:cs typeface="Calibri"/>
              </a:rPr>
              <a:t>Viva- </a:t>
            </a:r>
            <a:r>
              <a:rPr sz="2400" spc="-10" dirty="0">
                <a:solidFill>
                  <a:srgbClr val="F7F5CA"/>
                </a:solidFill>
                <a:latin typeface="Calibri"/>
                <a:cs typeface="Calibri"/>
              </a:rPr>
              <a:t>Presentation</a:t>
            </a: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145" rIns="0" bIns="0" rtlCol="0">
            <a:spAutoFit/>
          </a:bodyPr>
          <a:lstStyle/>
          <a:p>
            <a:pPr marL="1595120">
              <a:lnSpc>
                <a:spcPct val="100000"/>
              </a:lnSpc>
              <a:spcBef>
                <a:spcPts val="135"/>
              </a:spcBef>
            </a:pPr>
            <a:r>
              <a:rPr sz="3200" spc="-10" dirty="0"/>
              <a:t>Outline</a:t>
            </a:r>
            <a:endParaRPr sz="3200"/>
          </a:p>
        </p:txBody>
      </p:sp>
      <p:sp>
        <p:nvSpPr>
          <p:cNvPr id="3" name="object 3"/>
          <p:cNvSpPr txBox="1"/>
          <p:nvPr/>
        </p:nvSpPr>
        <p:spPr>
          <a:xfrm>
            <a:off x="48061" y="625929"/>
            <a:ext cx="4898589" cy="6196568"/>
          </a:xfrm>
          <a:prstGeom prst="rect">
            <a:avLst/>
          </a:prstGeom>
        </p:spPr>
        <p:txBody>
          <a:bodyPr vert="horz" wrap="square" lIns="0" tIns="86360" rIns="0" bIns="0" rtlCol="0">
            <a:spAutoFit/>
          </a:bodyPr>
          <a:lstStyle/>
          <a:p>
            <a:pPr marL="469265" indent="-456565">
              <a:lnSpc>
                <a:spcPct val="100000"/>
              </a:lnSpc>
              <a:spcBef>
                <a:spcPts val="680"/>
              </a:spcBef>
              <a:buClr>
                <a:srgbClr val="B40000"/>
              </a:buClr>
              <a:buSzPct val="75000"/>
              <a:buFont typeface="Lucida Sans Unicode"/>
              <a:buChar char="►"/>
              <a:tabLst>
                <a:tab pos="469265" algn="l"/>
              </a:tabLst>
            </a:pPr>
            <a:r>
              <a:rPr sz="3200" spc="-10" dirty="0">
                <a:latin typeface="Calibri"/>
                <a:cs typeface="Calibri"/>
              </a:rPr>
              <a:t>context</a:t>
            </a:r>
            <a:endParaRPr sz="3200" dirty="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problematic</a:t>
            </a:r>
            <a:r>
              <a:rPr sz="3200" spc="-140" dirty="0">
                <a:latin typeface="Calibri"/>
                <a:cs typeface="Calibri"/>
              </a:rPr>
              <a:t> </a:t>
            </a:r>
            <a:r>
              <a:rPr sz="3200" spc="-10" dirty="0">
                <a:latin typeface="Calibri"/>
                <a:cs typeface="Calibri"/>
              </a:rPr>
              <a:t>statement</a:t>
            </a:r>
            <a:endParaRPr sz="3200" dirty="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objectives</a:t>
            </a:r>
            <a:endParaRPr sz="3200" dirty="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methodology</a:t>
            </a:r>
            <a:endParaRPr sz="3200" dirty="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dirty="0">
                <a:latin typeface="Calibri"/>
                <a:cs typeface="Calibri"/>
              </a:rPr>
              <a:t>project</a:t>
            </a:r>
            <a:r>
              <a:rPr sz="3200" spc="-90" dirty="0">
                <a:latin typeface="Calibri"/>
                <a:cs typeface="Calibri"/>
              </a:rPr>
              <a:t> </a:t>
            </a:r>
            <a:r>
              <a:rPr sz="3200" spc="-10" dirty="0">
                <a:latin typeface="Calibri"/>
                <a:cs typeface="Calibri"/>
              </a:rPr>
              <a:t>management</a:t>
            </a:r>
            <a:endParaRPr sz="3200" dirty="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literature</a:t>
            </a:r>
            <a:r>
              <a:rPr sz="3200" spc="-165" dirty="0">
                <a:latin typeface="Calibri"/>
                <a:cs typeface="Calibri"/>
              </a:rPr>
              <a:t> </a:t>
            </a:r>
            <a:r>
              <a:rPr sz="3200" spc="-10" dirty="0">
                <a:latin typeface="Calibri"/>
                <a:cs typeface="Calibri"/>
              </a:rPr>
              <a:t>review</a:t>
            </a:r>
            <a:endParaRPr lang="en-US" sz="3200" spc="-10" dirty="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lang="en-IN" sz="3200" dirty="0">
                <a:latin typeface="Calibri"/>
                <a:cs typeface="Calibri"/>
              </a:rPr>
              <a:t>Machine Learning Model</a:t>
            </a:r>
          </a:p>
          <a:p>
            <a:pPr marL="469265" indent="-456565">
              <a:lnSpc>
                <a:spcPct val="100000"/>
              </a:lnSpc>
              <a:spcBef>
                <a:spcPts val="580"/>
              </a:spcBef>
              <a:buClr>
                <a:srgbClr val="B40000"/>
              </a:buClr>
              <a:buSzPct val="75000"/>
              <a:buFont typeface="Lucida Sans Unicode"/>
              <a:buChar char="►"/>
              <a:tabLst>
                <a:tab pos="469265" algn="l"/>
              </a:tabLst>
            </a:pPr>
            <a:r>
              <a:rPr lang="en-IN" sz="3200" dirty="0">
                <a:latin typeface="Calibri"/>
                <a:cs typeface="Calibri"/>
              </a:rPr>
              <a:t>Flood Risk Prediction System</a:t>
            </a:r>
          </a:p>
          <a:p>
            <a:pPr marL="469265" indent="-456565">
              <a:lnSpc>
                <a:spcPct val="100000"/>
              </a:lnSpc>
              <a:spcBef>
                <a:spcPts val="580"/>
              </a:spcBef>
              <a:buClr>
                <a:srgbClr val="B40000"/>
              </a:buClr>
              <a:buSzPct val="75000"/>
              <a:buFont typeface="Lucida Sans Unicode"/>
              <a:buChar char="►"/>
              <a:tabLst>
                <a:tab pos="469265" algn="l"/>
              </a:tabLst>
            </a:pPr>
            <a:r>
              <a:rPr lang="en-IN" sz="3200" dirty="0">
                <a:latin typeface="Calibri"/>
                <a:cs typeface="Calibri"/>
              </a:rPr>
              <a:t>Contributions</a:t>
            </a:r>
          </a:p>
          <a:p>
            <a:pPr marL="469265" indent="-456565">
              <a:lnSpc>
                <a:spcPct val="100000"/>
              </a:lnSpc>
              <a:spcBef>
                <a:spcPts val="580"/>
              </a:spcBef>
              <a:buClr>
                <a:srgbClr val="B40000"/>
              </a:buClr>
              <a:buSzPct val="75000"/>
              <a:buFont typeface="Lucida Sans Unicode"/>
              <a:buChar char="►"/>
              <a:tabLst>
                <a:tab pos="469265" algn="l"/>
              </a:tabLst>
            </a:pPr>
            <a:r>
              <a:rPr lang="en-IN" sz="3200" dirty="0">
                <a:latin typeface="Calibri"/>
                <a:cs typeface="Calibri"/>
              </a:rPr>
              <a:t>Conclusion &amp; Future Work</a:t>
            </a:r>
            <a:endParaRPr sz="32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145" rIns="0" bIns="0" rtlCol="0">
            <a:spAutoFit/>
          </a:bodyPr>
          <a:lstStyle/>
          <a:p>
            <a:pPr marL="1566545">
              <a:lnSpc>
                <a:spcPct val="100000"/>
              </a:lnSpc>
              <a:spcBef>
                <a:spcPts val="135"/>
              </a:spcBef>
            </a:pPr>
            <a:r>
              <a:rPr sz="3200" spc="-10" dirty="0"/>
              <a:t>Context</a:t>
            </a:r>
            <a:endParaRPr sz="3200"/>
          </a:p>
        </p:txBody>
      </p:sp>
      <p:sp>
        <p:nvSpPr>
          <p:cNvPr id="3" name="object 3"/>
          <p:cNvSpPr txBox="1"/>
          <p:nvPr/>
        </p:nvSpPr>
        <p:spPr>
          <a:xfrm>
            <a:off x="48060" y="700147"/>
            <a:ext cx="11832789" cy="5480346"/>
          </a:xfrm>
          <a:prstGeom prst="rect">
            <a:avLst/>
          </a:prstGeom>
        </p:spPr>
        <p:txBody>
          <a:bodyPr vert="horz" wrap="square" lIns="0" tIns="12065" rIns="0" bIns="0" rtlCol="0">
            <a:spAutoFit/>
          </a:bodyPr>
          <a:lstStyle/>
          <a:p>
            <a:pPr marL="469265" indent="-456565">
              <a:lnSpc>
                <a:spcPct val="100000"/>
              </a:lnSpc>
              <a:spcBef>
                <a:spcPts val="95"/>
              </a:spcBef>
              <a:buClr>
                <a:srgbClr val="B40000"/>
              </a:buClr>
              <a:buSzPct val="75000"/>
              <a:buFont typeface="Lucida Sans Unicode"/>
              <a:buChar char="►"/>
              <a:tabLst>
                <a:tab pos="469265" algn="l"/>
              </a:tabLst>
            </a:pPr>
            <a:r>
              <a:rPr lang="en-US" sz="3200" dirty="0">
                <a:latin typeface="Calibri"/>
                <a:cs typeface="Calibri"/>
              </a:rPr>
              <a:t>Floods are also one of the most common and destructive natural calamities, which lead to serious social, economic and environmental losses [1].</a:t>
            </a:r>
          </a:p>
          <a:p>
            <a:pPr marL="469265" indent="-456565">
              <a:lnSpc>
                <a:spcPct val="100000"/>
              </a:lnSpc>
              <a:spcBef>
                <a:spcPts val="95"/>
              </a:spcBef>
              <a:buClr>
                <a:srgbClr val="B40000"/>
              </a:buClr>
              <a:buSzPct val="75000"/>
              <a:buFont typeface="Lucida Sans Unicode"/>
              <a:buChar char="►"/>
              <a:tabLst>
                <a:tab pos="469265" algn="l"/>
              </a:tabLst>
            </a:pPr>
            <a:r>
              <a:rPr lang="en-US" sz="3200" dirty="0">
                <a:latin typeface="Calibri"/>
                <a:cs typeface="Calibri"/>
              </a:rPr>
              <a:t>Floods have been difficult to predict due to climate variability and rising intensity of rainfall. </a:t>
            </a:r>
          </a:p>
          <a:p>
            <a:pPr marL="469265" indent="-456565">
              <a:lnSpc>
                <a:spcPct val="100000"/>
              </a:lnSpc>
              <a:spcBef>
                <a:spcPts val="95"/>
              </a:spcBef>
              <a:buClr>
                <a:srgbClr val="B40000"/>
              </a:buClr>
              <a:buSzPct val="75000"/>
              <a:buFont typeface="Lucida Sans Unicode"/>
              <a:buChar char="►"/>
              <a:tabLst>
                <a:tab pos="469265" algn="l"/>
              </a:tabLst>
            </a:pPr>
            <a:r>
              <a:rPr lang="en-US" sz="3200" dirty="0">
                <a:latin typeface="Calibri"/>
                <a:cs typeface="Calibri"/>
              </a:rPr>
              <a:t>The historical data of rainfalls and rivers observations are useful in determining the trends of flooding. </a:t>
            </a:r>
          </a:p>
          <a:p>
            <a:pPr marL="469265" indent="-456565">
              <a:lnSpc>
                <a:spcPct val="100000"/>
              </a:lnSpc>
              <a:spcBef>
                <a:spcPts val="95"/>
              </a:spcBef>
              <a:buClr>
                <a:srgbClr val="B40000"/>
              </a:buClr>
              <a:buSzPct val="75000"/>
              <a:buFont typeface="Lucida Sans Unicode"/>
              <a:buChar char="►"/>
              <a:tabLst>
                <a:tab pos="469265" algn="l"/>
              </a:tabLst>
            </a:pPr>
            <a:r>
              <a:rPr lang="en-US" sz="3200" dirty="0">
                <a:latin typeface="Calibri"/>
                <a:cs typeface="Calibri"/>
              </a:rPr>
              <a:t>Machine learning supports the effective analysis of complex datasets to help in the correct risk of floods forecast and disaster awareness.</a:t>
            </a:r>
          </a:p>
          <a:p>
            <a:pPr marL="469265" indent="-456565">
              <a:lnSpc>
                <a:spcPct val="100000"/>
              </a:lnSpc>
              <a:spcBef>
                <a:spcPts val="95"/>
              </a:spcBef>
              <a:buClr>
                <a:srgbClr val="B40000"/>
              </a:buClr>
              <a:buSzPct val="75000"/>
              <a:buFont typeface="Lucida Sans Unicode"/>
              <a:buChar char="►"/>
              <a:tabLst>
                <a:tab pos="469265" algn="l"/>
              </a:tabLst>
            </a:pPr>
            <a:endParaRPr sz="32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145" rIns="0" bIns="0" rtlCol="0">
            <a:spAutoFit/>
          </a:bodyPr>
          <a:lstStyle/>
          <a:p>
            <a:pPr marL="34925">
              <a:lnSpc>
                <a:spcPct val="100000"/>
              </a:lnSpc>
              <a:spcBef>
                <a:spcPts val="135"/>
              </a:spcBef>
            </a:pPr>
            <a:r>
              <a:rPr sz="3200" dirty="0"/>
              <a:t>Problem</a:t>
            </a:r>
            <a:r>
              <a:rPr sz="3200" spc="-50" dirty="0"/>
              <a:t> </a:t>
            </a:r>
            <a:r>
              <a:rPr sz="3200" dirty="0"/>
              <a:t>Statement</a:t>
            </a:r>
            <a:r>
              <a:rPr sz="3200" spc="-50" dirty="0"/>
              <a:t> </a:t>
            </a:r>
            <a:r>
              <a:rPr sz="3200" dirty="0"/>
              <a:t>-</a:t>
            </a:r>
            <a:r>
              <a:rPr sz="3200" spc="-45" dirty="0"/>
              <a:t> </a:t>
            </a:r>
            <a:r>
              <a:rPr sz="3200" spc="-25" dirty="0"/>
              <a:t>WHY</a:t>
            </a:r>
            <a:endParaRPr sz="3200"/>
          </a:p>
        </p:txBody>
      </p:sp>
      <p:sp>
        <p:nvSpPr>
          <p:cNvPr id="3" name="object 3"/>
          <p:cNvSpPr txBox="1"/>
          <p:nvPr/>
        </p:nvSpPr>
        <p:spPr>
          <a:xfrm>
            <a:off x="48060" y="700147"/>
            <a:ext cx="11908989" cy="5244897"/>
          </a:xfrm>
          <a:prstGeom prst="rect">
            <a:avLst/>
          </a:prstGeom>
        </p:spPr>
        <p:txBody>
          <a:bodyPr vert="horz" wrap="square" lIns="0" tIns="67945" rIns="0" bIns="0" rtlCol="0">
            <a:spAutoFit/>
          </a:bodyPr>
          <a:lstStyle/>
          <a:p>
            <a:pPr marL="469265" marR="1768475" indent="-457200">
              <a:lnSpc>
                <a:spcPts val="3450"/>
              </a:lnSpc>
              <a:spcBef>
                <a:spcPts val="535"/>
              </a:spcBef>
              <a:buClr>
                <a:srgbClr val="B40000"/>
              </a:buClr>
              <a:buSzPct val="75000"/>
              <a:buFont typeface="Lucida Sans Unicode"/>
              <a:buChar char="►"/>
              <a:tabLst>
                <a:tab pos="469265" algn="l"/>
              </a:tabLst>
            </a:pPr>
            <a:r>
              <a:rPr lang="en-US" sz="2800" dirty="0">
                <a:latin typeface="Calibri"/>
                <a:cs typeface="Calibri"/>
              </a:rPr>
              <a:t>Flooding has severe effects on life, property, infrastructure and basic public services, especially in the flood level areas like India. </a:t>
            </a:r>
          </a:p>
          <a:p>
            <a:pPr marL="469265" marR="1768475" indent="-457200">
              <a:lnSpc>
                <a:spcPts val="3450"/>
              </a:lnSpc>
              <a:spcBef>
                <a:spcPts val="535"/>
              </a:spcBef>
              <a:buClr>
                <a:srgbClr val="B40000"/>
              </a:buClr>
              <a:buSzPct val="75000"/>
              <a:buFont typeface="Lucida Sans Unicode"/>
              <a:buChar char="►"/>
              <a:tabLst>
                <a:tab pos="469265" algn="l"/>
              </a:tabLst>
            </a:pPr>
            <a:r>
              <a:rPr lang="en-US" sz="2800" dirty="0">
                <a:latin typeface="Calibri"/>
                <a:cs typeface="Calibri"/>
              </a:rPr>
              <a:t>Floods are caused by a complex interaction of various environmental and hydrological conditions, which makes their prediction difficult [2]. </a:t>
            </a:r>
          </a:p>
          <a:p>
            <a:pPr marL="469265" marR="1768475" indent="-457200">
              <a:lnSpc>
                <a:spcPts val="3450"/>
              </a:lnSpc>
              <a:spcBef>
                <a:spcPts val="535"/>
              </a:spcBef>
              <a:buClr>
                <a:srgbClr val="B40000"/>
              </a:buClr>
              <a:buSzPct val="75000"/>
              <a:buFont typeface="Lucida Sans Unicode"/>
              <a:buChar char="►"/>
              <a:tabLst>
                <a:tab pos="469265" algn="l"/>
              </a:tabLst>
            </a:pPr>
            <a:r>
              <a:rPr lang="en-US" sz="2800" dirty="0">
                <a:latin typeface="Calibri"/>
                <a:cs typeface="Calibri"/>
              </a:rPr>
              <a:t>Conventional hydrological models tend to need large quantities of measurements and catchment details. </a:t>
            </a:r>
          </a:p>
          <a:p>
            <a:pPr marL="469265" marR="1768475" indent="-457200">
              <a:lnSpc>
                <a:spcPts val="3450"/>
              </a:lnSpc>
              <a:spcBef>
                <a:spcPts val="535"/>
              </a:spcBef>
              <a:buClr>
                <a:srgbClr val="B40000"/>
              </a:buClr>
              <a:buSzPct val="75000"/>
              <a:buFont typeface="Lucida Sans Unicode"/>
              <a:buChar char="►"/>
              <a:tabLst>
                <a:tab pos="469265" algn="l"/>
              </a:tabLst>
            </a:pPr>
            <a:r>
              <a:rPr lang="en-US" sz="2800" dirty="0">
                <a:latin typeface="Calibri"/>
                <a:cs typeface="Calibri"/>
              </a:rPr>
              <a:t>Machine learning: The data-driven methodology to compare predictive models and enhance flood-risk classification with the same experimental conditions.</a:t>
            </a:r>
          </a:p>
          <a:p>
            <a:pPr marL="469265" marR="1768475" indent="-457200">
              <a:lnSpc>
                <a:spcPts val="3450"/>
              </a:lnSpc>
              <a:spcBef>
                <a:spcPts val="535"/>
              </a:spcBef>
              <a:buClr>
                <a:srgbClr val="B40000"/>
              </a:buClr>
              <a:buSzPct val="75000"/>
              <a:buFont typeface="Lucida Sans Unicode"/>
              <a:buChar char="►"/>
              <a:tabLst>
                <a:tab pos="469265" algn="l"/>
              </a:tabLst>
            </a:pPr>
            <a:endParaRPr sz="28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273879" y="-22409"/>
            <a:ext cx="3645535" cy="574040"/>
          </a:xfrm>
          <a:prstGeom prst="rect">
            <a:avLst/>
          </a:prstGeom>
        </p:spPr>
        <p:txBody>
          <a:bodyPr vert="horz" wrap="square" lIns="0" tIns="12065" rIns="0" bIns="0" rtlCol="0">
            <a:spAutoFit/>
          </a:bodyPr>
          <a:lstStyle/>
          <a:p>
            <a:pPr marL="12700">
              <a:lnSpc>
                <a:spcPct val="100000"/>
              </a:lnSpc>
              <a:spcBef>
                <a:spcPts val="95"/>
              </a:spcBef>
            </a:pPr>
            <a:r>
              <a:rPr dirty="0">
                <a:latin typeface="Arial MT"/>
                <a:cs typeface="Arial MT"/>
              </a:rPr>
              <a:t>Objective</a:t>
            </a:r>
            <a:r>
              <a:rPr spc="-85" dirty="0">
                <a:latin typeface="Arial MT"/>
                <a:cs typeface="Arial MT"/>
              </a:rPr>
              <a:t> </a:t>
            </a:r>
            <a:r>
              <a:rPr dirty="0">
                <a:latin typeface="Arial MT"/>
                <a:cs typeface="Arial MT"/>
              </a:rPr>
              <a:t>-</a:t>
            </a:r>
            <a:r>
              <a:rPr spc="-80" dirty="0">
                <a:latin typeface="Arial MT"/>
                <a:cs typeface="Arial MT"/>
              </a:rPr>
              <a:t> </a:t>
            </a:r>
            <a:r>
              <a:rPr spc="-30" dirty="0">
                <a:latin typeface="Arial MT"/>
                <a:cs typeface="Arial MT"/>
              </a:rPr>
              <a:t>WHAT</a:t>
            </a:r>
          </a:p>
        </p:txBody>
      </p:sp>
      <p:sp>
        <p:nvSpPr>
          <p:cNvPr id="3" name="object 3"/>
          <p:cNvSpPr txBox="1">
            <a:spLocks noGrp="1"/>
          </p:cNvSpPr>
          <p:nvPr>
            <p:ph type="body" idx="1"/>
          </p:nvPr>
        </p:nvSpPr>
        <p:spPr>
          <a:xfrm>
            <a:off x="222250" y="882052"/>
            <a:ext cx="10456545" cy="5093895"/>
          </a:xfrm>
          <a:prstGeom prst="rect">
            <a:avLst/>
          </a:prstGeom>
        </p:spPr>
        <p:txBody>
          <a:bodyPr vert="horz" wrap="square" lIns="0" tIns="12700" rIns="0" bIns="0" rtlCol="0">
            <a:spAutoFit/>
          </a:bodyPr>
          <a:lstStyle/>
          <a:p>
            <a:pPr marL="431165" marR="257810" indent="-419100">
              <a:lnSpc>
                <a:spcPct val="107300"/>
              </a:lnSpc>
              <a:spcBef>
                <a:spcPts val="100"/>
              </a:spcBef>
              <a:buClr>
                <a:srgbClr val="B40000"/>
              </a:buClr>
              <a:buSzPct val="75000"/>
              <a:buFont typeface="Microsoft Sans Serif"/>
              <a:buChar char="●"/>
              <a:tabLst>
                <a:tab pos="431165" algn="l"/>
              </a:tabLst>
            </a:pPr>
            <a:r>
              <a:rPr lang="en-US" sz="2800" dirty="0">
                <a:latin typeface="Tahoma"/>
                <a:cs typeface="Tahoma"/>
              </a:rPr>
              <a:t>Compare the chosen machine learning methods to predict flood risk based on historical data of rainfall and river observations. </a:t>
            </a:r>
          </a:p>
          <a:p>
            <a:pPr marL="431165" marR="257810" indent="-419100">
              <a:lnSpc>
                <a:spcPct val="107300"/>
              </a:lnSpc>
              <a:spcBef>
                <a:spcPts val="100"/>
              </a:spcBef>
              <a:buClr>
                <a:srgbClr val="B40000"/>
              </a:buClr>
              <a:buSzPct val="75000"/>
              <a:buFont typeface="Microsoft Sans Serif"/>
              <a:buChar char="●"/>
              <a:tabLst>
                <a:tab pos="431165" algn="l"/>
              </a:tabLst>
            </a:pPr>
            <a:r>
              <a:rPr lang="en-US" sz="2800" dirty="0">
                <a:latin typeface="Tahoma"/>
                <a:cs typeface="Tahoma"/>
              </a:rPr>
              <a:t>Examine how environmental and hydrological factors affect floods. </a:t>
            </a:r>
          </a:p>
          <a:p>
            <a:pPr marL="431165" marR="257810" indent="-419100">
              <a:lnSpc>
                <a:spcPct val="107300"/>
              </a:lnSpc>
              <a:spcBef>
                <a:spcPts val="100"/>
              </a:spcBef>
              <a:buClr>
                <a:srgbClr val="B40000"/>
              </a:buClr>
              <a:buSzPct val="75000"/>
              <a:buFont typeface="Microsoft Sans Serif"/>
              <a:buChar char="●"/>
              <a:tabLst>
                <a:tab pos="431165" algn="l"/>
              </a:tabLst>
            </a:pPr>
            <a:r>
              <a:rPr lang="en-US" sz="2800" dirty="0">
                <a:latin typeface="Tahoma"/>
                <a:cs typeface="Tahoma"/>
              </a:rPr>
              <a:t>Assess the performance of models based on common preprocessing, validation and classification measures. </a:t>
            </a:r>
          </a:p>
          <a:p>
            <a:pPr marL="431165" marR="257810" indent="-419100">
              <a:lnSpc>
                <a:spcPct val="107300"/>
              </a:lnSpc>
              <a:spcBef>
                <a:spcPts val="100"/>
              </a:spcBef>
              <a:buClr>
                <a:srgbClr val="B40000"/>
              </a:buClr>
              <a:buSzPct val="75000"/>
              <a:buFont typeface="Microsoft Sans Serif"/>
              <a:buChar char="●"/>
              <a:tabLst>
                <a:tab pos="431165" algn="l"/>
              </a:tabLst>
            </a:pPr>
            <a:r>
              <a:rPr lang="en-US" sz="2800" dirty="0">
                <a:latin typeface="Tahoma"/>
                <a:cs typeface="Tahoma"/>
              </a:rPr>
              <a:t>Determine the best prediction model and offer suggestions on how to enhance flood-risk prediction and disaster management.</a:t>
            </a:r>
          </a:p>
          <a:p>
            <a:pPr marL="12065" marR="257810">
              <a:lnSpc>
                <a:spcPct val="107300"/>
              </a:lnSpc>
              <a:spcBef>
                <a:spcPts val="100"/>
              </a:spcBef>
              <a:buClr>
                <a:srgbClr val="B40000"/>
              </a:buClr>
              <a:buSzPct val="75000"/>
              <a:tabLst>
                <a:tab pos="431165" algn="l"/>
              </a:tabLst>
            </a:pPr>
            <a:endParaRPr sz="2800" dirty="0">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00990">
              <a:lnSpc>
                <a:spcPct val="100000"/>
              </a:lnSpc>
              <a:spcBef>
                <a:spcPts val="95"/>
              </a:spcBef>
            </a:pPr>
            <a:r>
              <a:rPr spc="-10" dirty="0"/>
              <a:t>Methodology</a:t>
            </a:r>
            <a:r>
              <a:rPr spc="-55" dirty="0"/>
              <a:t> </a:t>
            </a:r>
            <a:r>
              <a:rPr dirty="0"/>
              <a:t>-</a:t>
            </a:r>
            <a:r>
              <a:rPr spc="-50" dirty="0"/>
              <a:t> </a:t>
            </a:r>
            <a:r>
              <a:rPr spc="-25" dirty="0"/>
              <a:t>HOW</a:t>
            </a:r>
          </a:p>
        </p:txBody>
      </p:sp>
      <p:sp>
        <p:nvSpPr>
          <p:cNvPr id="3" name="object 3"/>
          <p:cNvSpPr txBox="1"/>
          <p:nvPr/>
        </p:nvSpPr>
        <p:spPr>
          <a:xfrm>
            <a:off x="48061" y="702051"/>
            <a:ext cx="11985189" cy="5453416"/>
          </a:xfrm>
          <a:prstGeom prst="rect">
            <a:avLst/>
          </a:prstGeom>
        </p:spPr>
        <p:txBody>
          <a:bodyPr vert="horz" wrap="square" lIns="0" tIns="12700" rIns="0" bIns="0" rtlCol="0">
            <a:spAutoFit/>
          </a:bodyPr>
          <a:lstStyle/>
          <a:p>
            <a:pPr marL="469265" marR="638810" indent="-457200">
              <a:lnSpc>
                <a:spcPct val="107300"/>
              </a:lnSpc>
              <a:spcBef>
                <a:spcPts val="100"/>
              </a:spcBef>
              <a:buClr>
                <a:srgbClr val="B40000"/>
              </a:buClr>
              <a:buSzPct val="75000"/>
              <a:buFont typeface="Lucida Sans Unicode"/>
              <a:buChar char="►"/>
              <a:tabLst>
                <a:tab pos="469265" algn="l"/>
              </a:tabLst>
            </a:pPr>
            <a:r>
              <a:rPr lang="en-US" sz="3000" dirty="0">
                <a:latin typeface="Tahoma"/>
                <a:cs typeface="Tahoma"/>
              </a:rPr>
              <a:t>A quantitative research design is taken with the help of secondary flood-risk data and machine learning techniques supervised. </a:t>
            </a:r>
          </a:p>
          <a:p>
            <a:pPr marL="469265" marR="638810" indent="-457200">
              <a:lnSpc>
                <a:spcPct val="107300"/>
              </a:lnSpc>
              <a:spcBef>
                <a:spcPts val="100"/>
              </a:spcBef>
              <a:buClr>
                <a:srgbClr val="B40000"/>
              </a:buClr>
              <a:buSzPct val="75000"/>
              <a:buFont typeface="Lucida Sans Unicode"/>
              <a:buChar char="►"/>
              <a:tabLst>
                <a:tab pos="469265" algn="l"/>
              </a:tabLst>
            </a:pPr>
            <a:r>
              <a:rPr lang="en-US" sz="3000" dirty="0">
                <a:latin typeface="Tahoma"/>
                <a:cs typeface="Tahoma"/>
              </a:rPr>
              <a:t>Exploratory Data Analysis (EDA) is conducted to investigate quality of data, distribution and relationships between features.</a:t>
            </a:r>
          </a:p>
          <a:p>
            <a:pPr marL="469265" marR="638810" indent="-457200">
              <a:lnSpc>
                <a:spcPct val="107300"/>
              </a:lnSpc>
              <a:spcBef>
                <a:spcPts val="100"/>
              </a:spcBef>
              <a:buClr>
                <a:srgbClr val="B40000"/>
              </a:buClr>
              <a:buSzPct val="75000"/>
              <a:buFont typeface="Lucida Sans Unicode"/>
              <a:buChar char="►"/>
              <a:tabLst>
                <a:tab pos="469265" algn="l"/>
              </a:tabLst>
            </a:pPr>
            <a:r>
              <a:rPr lang="en-US" sz="3000" dirty="0">
                <a:latin typeface="Tahoma"/>
                <a:cs typeface="Tahoma"/>
              </a:rPr>
              <a:t>The data is pre-tuned and then training of selected classification models is done under identical experimental conditions. </a:t>
            </a:r>
          </a:p>
          <a:p>
            <a:pPr marL="469265" marR="638810" indent="-457200">
              <a:lnSpc>
                <a:spcPct val="107300"/>
              </a:lnSpc>
              <a:spcBef>
                <a:spcPts val="100"/>
              </a:spcBef>
              <a:buClr>
                <a:srgbClr val="B40000"/>
              </a:buClr>
              <a:buSzPct val="75000"/>
              <a:buFont typeface="Lucida Sans Unicode"/>
              <a:buChar char="►"/>
              <a:tabLst>
                <a:tab pos="469265" algn="l"/>
              </a:tabLst>
            </a:pPr>
            <a:r>
              <a:rPr lang="en-US" sz="3000" dirty="0">
                <a:latin typeface="Tahoma"/>
                <a:cs typeface="Tahoma"/>
              </a:rPr>
              <a:t>The validation procedures and classification metrics are used to determine the most effective prediction method by measuring model performance.</a:t>
            </a:r>
          </a:p>
          <a:p>
            <a:pPr marL="469265" marR="638810" indent="-457200">
              <a:lnSpc>
                <a:spcPct val="107300"/>
              </a:lnSpc>
              <a:spcBef>
                <a:spcPts val="100"/>
              </a:spcBef>
              <a:buClr>
                <a:srgbClr val="B40000"/>
              </a:buClr>
              <a:buSzPct val="75000"/>
              <a:buFont typeface="Lucida Sans Unicode"/>
              <a:buChar char="►"/>
              <a:tabLst>
                <a:tab pos="469265" algn="l"/>
              </a:tabLst>
            </a:pPr>
            <a:endParaRPr sz="3000" dirty="0">
              <a:latin typeface="Tahoma"/>
              <a:cs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131153" y="-3379"/>
            <a:ext cx="3927475" cy="574040"/>
          </a:xfrm>
          <a:prstGeom prst="rect">
            <a:avLst/>
          </a:prstGeom>
        </p:spPr>
        <p:txBody>
          <a:bodyPr vert="horz" wrap="square" lIns="0" tIns="12065" rIns="0" bIns="0" rtlCol="0">
            <a:spAutoFit/>
          </a:bodyPr>
          <a:lstStyle/>
          <a:p>
            <a:pPr marL="12700">
              <a:lnSpc>
                <a:spcPct val="100000"/>
              </a:lnSpc>
              <a:spcBef>
                <a:spcPts val="95"/>
              </a:spcBef>
            </a:pPr>
            <a:r>
              <a:rPr dirty="0"/>
              <a:t>Project</a:t>
            </a:r>
            <a:r>
              <a:rPr spc="-150" dirty="0"/>
              <a:t> </a:t>
            </a:r>
            <a:r>
              <a:rPr spc="-10" dirty="0"/>
              <a:t>Management</a:t>
            </a:r>
          </a:p>
        </p:txBody>
      </p:sp>
      <p:sp>
        <p:nvSpPr>
          <p:cNvPr id="3" name="object 3"/>
          <p:cNvSpPr txBox="1"/>
          <p:nvPr/>
        </p:nvSpPr>
        <p:spPr>
          <a:xfrm>
            <a:off x="48061" y="508396"/>
            <a:ext cx="11832789" cy="5096908"/>
          </a:xfrm>
          <a:prstGeom prst="rect">
            <a:avLst/>
          </a:prstGeom>
        </p:spPr>
        <p:txBody>
          <a:bodyPr vert="horz" wrap="square" lIns="0" tIns="241935" rIns="0" bIns="0" rtlCol="0">
            <a:spAutoFit/>
          </a:bodyPr>
          <a:lstStyle/>
          <a:p>
            <a:pPr marL="469265" indent="-456565">
              <a:lnSpc>
                <a:spcPct val="100000"/>
              </a:lnSpc>
              <a:spcBef>
                <a:spcPts val="1905"/>
              </a:spcBef>
              <a:buClr>
                <a:srgbClr val="B40000"/>
              </a:buClr>
              <a:buSzPct val="75000"/>
              <a:buFont typeface="Lucida Sans Unicode"/>
              <a:buChar char="►"/>
              <a:tabLst>
                <a:tab pos="469265" algn="l"/>
              </a:tabLst>
            </a:pPr>
            <a:r>
              <a:rPr lang="en-US" sz="2800" dirty="0">
                <a:latin typeface="Tahoma"/>
                <a:cs typeface="Tahoma"/>
              </a:rPr>
              <a:t>The project has a systematic 16-week timeline to provide a systematic planning and completion on time. </a:t>
            </a:r>
          </a:p>
          <a:p>
            <a:pPr marL="469265" indent="-456565">
              <a:lnSpc>
                <a:spcPct val="100000"/>
              </a:lnSpc>
              <a:spcBef>
                <a:spcPts val="1905"/>
              </a:spcBef>
              <a:buClr>
                <a:srgbClr val="B40000"/>
              </a:buClr>
              <a:buSzPct val="75000"/>
              <a:buFont typeface="Lucida Sans Unicode"/>
              <a:buChar char="►"/>
              <a:tabLst>
                <a:tab pos="469265" algn="l"/>
              </a:tabLst>
            </a:pPr>
            <a:r>
              <a:rPr lang="en-US" sz="2800" dirty="0">
                <a:latin typeface="Tahoma"/>
                <a:cs typeface="Tahoma"/>
              </a:rPr>
              <a:t>Activities are planned as literature review, data preparation, model development, evaluation and dissertation writing. </a:t>
            </a:r>
          </a:p>
          <a:p>
            <a:pPr marL="469265" indent="-456565">
              <a:lnSpc>
                <a:spcPct val="100000"/>
              </a:lnSpc>
              <a:spcBef>
                <a:spcPts val="1905"/>
              </a:spcBef>
              <a:buClr>
                <a:srgbClr val="B40000"/>
              </a:buClr>
              <a:buSzPct val="75000"/>
              <a:buFont typeface="Lucida Sans Unicode"/>
              <a:buChar char="►"/>
              <a:tabLst>
                <a:tab pos="469265" algn="l"/>
              </a:tabLst>
            </a:pPr>
            <a:r>
              <a:rPr lang="en-US" sz="2800" dirty="0">
                <a:latin typeface="Tahoma"/>
                <a:cs typeface="Tahoma"/>
              </a:rPr>
              <a:t>Tasks are overlapping to enhance efficiency as well as keep the project moving. </a:t>
            </a:r>
          </a:p>
          <a:p>
            <a:pPr marL="469265" indent="-456565">
              <a:lnSpc>
                <a:spcPct val="100000"/>
              </a:lnSpc>
              <a:spcBef>
                <a:spcPts val="1905"/>
              </a:spcBef>
              <a:buClr>
                <a:srgbClr val="B40000"/>
              </a:buClr>
              <a:buSzPct val="75000"/>
              <a:buFont typeface="Lucida Sans Unicode"/>
              <a:buChar char="►"/>
              <a:tabLst>
                <a:tab pos="469265" algn="l"/>
              </a:tabLst>
            </a:pPr>
            <a:r>
              <a:rPr lang="en-US" sz="2800" dirty="0">
                <a:latin typeface="Tahoma"/>
                <a:cs typeface="Tahoma"/>
              </a:rPr>
              <a:t>A Gantt chart is employed to track milestones, manage deadlines and monitor the overall project completion during the research.</a:t>
            </a:r>
          </a:p>
          <a:p>
            <a:pPr marL="469265" indent="-456565">
              <a:lnSpc>
                <a:spcPct val="100000"/>
              </a:lnSpc>
              <a:spcBef>
                <a:spcPts val="1905"/>
              </a:spcBef>
              <a:buClr>
                <a:srgbClr val="B40000"/>
              </a:buClr>
              <a:buSzPct val="75000"/>
              <a:buFont typeface="Lucida Sans Unicode"/>
              <a:buChar char="►"/>
              <a:tabLst>
                <a:tab pos="469265" algn="l"/>
              </a:tabLst>
            </a:pPr>
            <a:endParaRPr sz="2800" dirty="0">
              <a:latin typeface="Tahoma"/>
              <a:cs typeface="Tahoma"/>
            </a:endParaRPr>
          </a:p>
        </p:txBody>
      </p:sp>
      <p:pic>
        <p:nvPicPr>
          <p:cNvPr id="4" name="Picture 3">
            <a:extLst>
              <a:ext uri="{FF2B5EF4-FFF2-40B4-BE49-F238E27FC236}">
                <a16:creationId xmlns:a16="http://schemas.microsoft.com/office/drawing/2014/main" id="{FC7CABD4-B771-13D2-3050-B877C9318FB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46650" y="5010151"/>
            <a:ext cx="6705600" cy="18287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596265">
              <a:lnSpc>
                <a:spcPct val="100000"/>
              </a:lnSpc>
              <a:spcBef>
                <a:spcPts val="95"/>
              </a:spcBef>
            </a:pPr>
            <a:r>
              <a:rPr spc="-10" dirty="0"/>
              <a:t>Literature</a:t>
            </a:r>
            <a:r>
              <a:rPr spc="-150" dirty="0"/>
              <a:t> </a:t>
            </a:r>
            <a:r>
              <a:rPr spc="-10" dirty="0"/>
              <a:t>Review</a:t>
            </a:r>
          </a:p>
        </p:txBody>
      </p:sp>
      <p:sp>
        <p:nvSpPr>
          <p:cNvPr id="3" name="object 3"/>
          <p:cNvSpPr txBox="1"/>
          <p:nvPr/>
        </p:nvSpPr>
        <p:spPr>
          <a:xfrm>
            <a:off x="48061" y="702051"/>
            <a:ext cx="6346389" cy="5943294"/>
          </a:xfrm>
          <a:prstGeom prst="rect">
            <a:avLst/>
          </a:prstGeom>
        </p:spPr>
        <p:txBody>
          <a:bodyPr vert="horz" wrap="square" lIns="0" tIns="12700" rIns="0" bIns="0" rtlCol="0">
            <a:spAutoFit/>
          </a:bodyPr>
          <a:lstStyle/>
          <a:p>
            <a:pPr marL="469265" marR="5080" indent="-457200">
              <a:lnSpc>
                <a:spcPct val="107300"/>
              </a:lnSpc>
              <a:spcBef>
                <a:spcPts val="100"/>
              </a:spcBef>
              <a:buClr>
                <a:srgbClr val="B40000"/>
              </a:buClr>
              <a:buSzPct val="75000"/>
              <a:buFont typeface="Lucida Sans Unicode"/>
              <a:buChar char="►"/>
              <a:tabLst>
                <a:tab pos="469265" algn="l"/>
              </a:tabLst>
            </a:pPr>
            <a:r>
              <a:rPr lang="en-US" sz="2400" spc="50" dirty="0">
                <a:latin typeface="Tahoma"/>
                <a:cs typeface="Tahoma"/>
              </a:rPr>
              <a:t>Recent research has shown that machine learning is effective in enhancing prediction of flood-risk based on environmental and hydrological data. </a:t>
            </a:r>
          </a:p>
          <a:p>
            <a:pPr marL="469265" marR="5080" indent="-457200">
              <a:lnSpc>
                <a:spcPct val="107300"/>
              </a:lnSpc>
              <a:spcBef>
                <a:spcPts val="100"/>
              </a:spcBef>
              <a:buClr>
                <a:srgbClr val="B40000"/>
              </a:buClr>
              <a:buSzPct val="75000"/>
              <a:buFont typeface="Lucida Sans Unicode"/>
              <a:buChar char="►"/>
              <a:tabLst>
                <a:tab pos="469265" algn="l"/>
              </a:tabLst>
            </a:pPr>
            <a:r>
              <a:rPr lang="en-US" sz="2400" spc="50" dirty="0">
                <a:latin typeface="Tahoma"/>
                <a:cs typeface="Tahoma"/>
              </a:rPr>
              <a:t>Prediction is highly affected by rainfall, river discharge, geographical features and elevation. </a:t>
            </a:r>
          </a:p>
          <a:p>
            <a:pPr marL="469265" marR="5080" indent="-457200">
              <a:lnSpc>
                <a:spcPct val="107300"/>
              </a:lnSpc>
              <a:spcBef>
                <a:spcPts val="100"/>
              </a:spcBef>
              <a:buClr>
                <a:srgbClr val="B40000"/>
              </a:buClr>
              <a:buSzPct val="75000"/>
              <a:buFont typeface="Lucida Sans Unicode"/>
              <a:buChar char="►"/>
              <a:tabLst>
                <a:tab pos="469265" algn="l"/>
              </a:tabLst>
            </a:pPr>
            <a:r>
              <a:rPr lang="en-US" sz="2400" spc="50" dirty="0">
                <a:latin typeface="Tahoma"/>
                <a:cs typeface="Tahoma"/>
              </a:rPr>
              <a:t>Since there has been comparative research showing that no machine learning algorithm is always the best in all datasets. </a:t>
            </a:r>
          </a:p>
          <a:p>
            <a:pPr marL="469265" marR="5080" indent="-457200">
              <a:lnSpc>
                <a:spcPct val="107300"/>
              </a:lnSpc>
              <a:spcBef>
                <a:spcPts val="100"/>
              </a:spcBef>
              <a:buClr>
                <a:srgbClr val="B40000"/>
              </a:buClr>
              <a:buSzPct val="75000"/>
              <a:buFont typeface="Lucida Sans Unicode"/>
              <a:buChar char="►"/>
              <a:tabLst>
                <a:tab pos="469265" algn="l"/>
              </a:tabLst>
            </a:pPr>
            <a:r>
              <a:rPr lang="en-US" sz="2400" spc="50" dirty="0">
                <a:latin typeface="Tahoma"/>
                <a:cs typeface="Tahoma"/>
              </a:rPr>
              <a:t>Current limitations indicate that a regular assessment through the same datasets, preprocessing and performance measures is necessary.</a:t>
            </a:r>
          </a:p>
        </p:txBody>
      </p:sp>
      <p:graphicFrame>
        <p:nvGraphicFramePr>
          <p:cNvPr id="4" name="Table 3">
            <a:extLst>
              <a:ext uri="{FF2B5EF4-FFF2-40B4-BE49-F238E27FC236}">
                <a16:creationId xmlns:a16="http://schemas.microsoft.com/office/drawing/2014/main" id="{7AE9DD20-AF9E-9EE2-2D5D-1627B27AB436}"/>
              </a:ext>
            </a:extLst>
          </p:cNvPr>
          <p:cNvGraphicFramePr>
            <a:graphicFrameLocks noGrp="1"/>
          </p:cNvGraphicFramePr>
          <p:nvPr>
            <p:extLst>
              <p:ext uri="{D42A27DB-BD31-4B8C-83A1-F6EECF244321}">
                <p14:modId xmlns:p14="http://schemas.microsoft.com/office/powerpoint/2010/main" val="2681144622"/>
              </p:ext>
            </p:extLst>
          </p:nvPr>
        </p:nvGraphicFramePr>
        <p:xfrm>
          <a:off x="7004050" y="762000"/>
          <a:ext cx="4648200" cy="5943289"/>
        </p:xfrm>
        <a:graphic>
          <a:graphicData uri="http://schemas.openxmlformats.org/drawingml/2006/table">
            <a:tbl>
              <a:tblPr firstRow="1" firstCol="1" bandRow="1">
                <a:tableStyleId>{5C22544A-7EE6-4342-B048-85BDC9FD1C3A}</a:tableStyleId>
              </a:tblPr>
              <a:tblGrid>
                <a:gridCol w="880589">
                  <a:extLst>
                    <a:ext uri="{9D8B030D-6E8A-4147-A177-3AD203B41FA5}">
                      <a16:colId xmlns:a16="http://schemas.microsoft.com/office/drawing/2014/main" val="2726033263"/>
                    </a:ext>
                  </a:extLst>
                </a:gridCol>
                <a:gridCol w="949144">
                  <a:extLst>
                    <a:ext uri="{9D8B030D-6E8A-4147-A177-3AD203B41FA5}">
                      <a16:colId xmlns:a16="http://schemas.microsoft.com/office/drawing/2014/main" val="4232926174"/>
                    </a:ext>
                  </a:extLst>
                </a:gridCol>
                <a:gridCol w="1422269">
                  <a:extLst>
                    <a:ext uri="{9D8B030D-6E8A-4147-A177-3AD203B41FA5}">
                      <a16:colId xmlns:a16="http://schemas.microsoft.com/office/drawing/2014/main" val="2628041214"/>
                    </a:ext>
                  </a:extLst>
                </a:gridCol>
                <a:gridCol w="1396198">
                  <a:extLst>
                    <a:ext uri="{9D8B030D-6E8A-4147-A177-3AD203B41FA5}">
                      <a16:colId xmlns:a16="http://schemas.microsoft.com/office/drawing/2014/main" val="1805169711"/>
                    </a:ext>
                  </a:extLst>
                </a:gridCol>
              </a:tblGrid>
              <a:tr h="145405">
                <a:tc>
                  <a:txBody>
                    <a:bodyPr/>
                    <a:lstStyle/>
                    <a:p>
                      <a:pPr algn="just">
                        <a:lnSpc>
                          <a:spcPct val="150000"/>
                        </a:lnSpc>
                        <a:spcAft>
                          <a:spcPts val="800"/>
                        </a:spcAft>
                        <a:buNone/>
                      </a:pPr>
                      <a:r>
                        <a:rPr lang="en-GB" sz="600" kern="0">
                          <a:effectLst/>
                        </a:rPr>
                        <a:t>Study</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Approach</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Key finding</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Limitation/relevance</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1857693613"/>
                  </a:ext>
                </a:extLst>
              </a:tr>
              <a:tr h="471040">
                <a:tc>
                  <a:txBody>
                    <a:bodyPr/>
                    <a:lstStyle/>
                    <a:p>
                      <a:pPr algn="just">
                        <a:lnSpc>
                          <a:spcPct val="150000"/>
                        </a:lnSpc>
                        <a:spcAft>
                          <a:spcPts val="800"/>
                        </a:spcAft>
                        <a:buNone/>
                      </a:pPr>
                      <a:r>
                        <a:rPr lang="en-GB" sz="600" kern="0">
                          <a:effectLst/>
                        </a:rPr>
                        <a:t>[3]</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Systematic review</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and remote sensing support flood-prone area identification</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Susceptibility differs from temporal forecasting</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2704802914"/>
                  </a:ext>
                </a:extLst>
              </a:tr>
              <a:tr h="308222">
                <a:tc>
                  <a:txBody>
                    <a:bodyPr/>
                    <a:lstStyle/>
                    <a:p>
                      <a:pPr algn="just">
                        <a:lnSpc>
                          <a:spcPct val="150000"/>
                        </a:lnSpc>
                        <a:spcAft>
                          <a:spcPts val="800"/>
                        </a:spcAft>
                        <a:buNone/>
                      </a:pPr>
                      <a:r>
                        <a:rPr lang="en-GB" sz="600" kern="0">
                          <a:effectLst/>
                        </a:rPr>
                        <a:t>[4]</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Deep ConvLSTM</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Deep learning supported flash-flood prediction</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Requires suitable temporal data</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3466333005"/>
                  </a:ext>
                </a:extLst>
              </a:tr>
              <a:tr h="471040">
                <a:tc>
                  <a:txBody>
                    <a:bodyPr/>
                    <a:lstStyle/>
                    <a:p>
                      <a:pPr algn="just">
                        <a:lnSpc>
                          <a:spcPct val="150000"/>
                        </a:lnSpc>
                        <a:spcAft>
                          <a:spcPts val="800"/>
                        </a:spcAft>
                        <a:buNone/>
                      </a:pPr>
                      <a:r>
                        <a:rPr lang="en-GB" sz="600" kern="0">
                          <a:effectLst/>
                        </a:rPr>
                        <a:t>[5]</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Knowledge-guided ML</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Hydrological knowledge improved operational forecasting</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Questions reliance on purely data-driven models</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963812598"/>
                  </a:ext>
                </a:extLst>
              </a:tr>
              <a:tr h="471040">
                <a:tc>
                  <a:txBody>
                    <a:bodyPr/>
                    <a:lstStyle/>
                    <a:p>
                      <a:pPr algn="just">
                        <a:lnSpc>
                          <a:spcPct val="150000"/>
                        </a:lnSpc>
                        <a:spcAft>
                          <a:spcPts val="800"/>
                        </a:spcAft>
                        <a:buNone/>
                      </a:pPr>
                      <a:r>
                        <a:rPr lang="en-GB" sz="600" kern="0">
                          <a:effectLst/>
                        </a:rPr>
                        <a:t>[6]</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with rainfall data</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enabled rapid urban flood prediction</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Efficiency does not provide physical explanation</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151102225"/>
                  </a:ext>
                </a:extLst>
              </a:tr>
              <a:tr h="471040">
                <a:tc>
                  <a:txBody>
                    <a:bodyPr/>
                    <a:lstStyle/>
                    <a:p>
                      <a:pPr algn="just">
                        <a:lnSpc>
                          <a:spcPct val="150000"/>
                        </a:lnSpc>
                        <a:spcAft>
                          <a:spcPts val="800"/>
                        </a:spcAft>
                        <a:buNone/>
                      </a:pPr>
                      <a:r>
                        <a:rPr lang="en-GB" sz="600" kern="0">
                          <a:effectLst/>
                        </a:rPr>
                        <a:t>[7]</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and GIS</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Multiple environmental factors improved assessment</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Results depend on data and geographical context</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968341973"/>
                  </a:ext>
                </a:extLst>
              </a:tr>
              <a:tr h="471040">
                <a:tc>
                  <a:txBody>
                    <a:bodyPr/>
                    <a:lstStyle/>
                    <a:p>
                      <a:pPr algn="just">
                        <a:lnSpc>
                          <a:spcPct val="150000"/>
                        </a:lnSpc>
                        <a:spcAft>
                          <a:spcPts val="800"/>
                        </a:spcAft>
                        <a:buNone/>
                      </a:pPr>
                      <a:r>
                        <a:rPr lang="en-GB" sz="600" kern="0">
                          <a:effectLst/>
                        </a:rPr>
                        <a:t>[8]</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with river-related factors</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Hydrological and geographical variables influenced flooding</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Findings may be location-specific</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316363067"/>
                  </a:ext>
                </a:extLst>
              </a:tr>
              <a:tr h="471040">
                <a:tc>
                  <a:txBody>
                    <a:bodyPr/>
                    <a:lstStyle/>
                    <a:p>
                      <a:pPr algn="just">
                        <a:lnSpc>
                          <a:spcPct val="150000"/>
                        </a:lnSpc>
                        <a:spcAft>
                          <a:spcPts val="800"/>
                        </a:spcAft>
                        <a:buNone/>
                      </a:pPr>
                      <a:r>
                        <a:rPr lang="en-GB" sz="600" kern="0">
                          <a:effectLst/>
                        </a:rPr>
                        <a:t>[9]</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RF, XGBoost, ANN and SVM</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Ensemble methods achieved strong performance</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No model is universally superior</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1944861422"/>
                  </a:ext>
                </a:extLst>
              </a:tr>
              <a:tr h="471040">
                <a:tc>
                  <a:txBody>
                    <a:bodyPr/>
                    <a:lstStyle/>
                    <a:p>
                      <a:pPr algn="just">
                        <a:lnSpc>
                          <a:spcPct val="150000"/>
                        </a:lnSpc>
                        <a:spcAft>
                          <a:spcPts val="800"/>
                        </a:spcAft>
                        <a:buNone/>
                      </a:pPr>
                      <a:r>
                        <a:rPr lang="en-GB" sz="600" kern="0">
                          <a:effectLst/>
                        </a:rPr>
                        <a:t>[10]</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Comparative ML</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Predictor selection affected model performance</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Algorithm choice alone does not determine accuracy</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109550131"/>
                  </a:ext>
                </a:extLst>
              </a:tr>
              <a:tr h="471040">
                <a:tc>
                  <a:txBody>
                    <a:bodyPr/>
                    <a:lstStyle/>
                    <a:p>
                      <a:pPr algn="just">
                        <a:lnSpc>
                          <a:spcPct val="150000"/>
                        </a:lnSpc>
                        <a:spcAft>
                          <a:spcPts val="800"/>
                        </a:spcAft>
                        <a:buNone/>
                      </a:pPr>
                      <a:r>
                        <a:rPr lang="en-GB" sz="600" kern="0">
                          <a:effectLst/>
                        </a:rPr>
                        <a:t>[11]</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Ensemble ML</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Ensemble methods captured complex flood relationships</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Greater complexity may reduce interpretability</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3045313889"/>
                  </a:ext>
                </a:extLst>
              </a:tr>
              <a:tr h="308222">
                <a:tc>
                  <a:txBody>
                    <a:bodyPr/>
                    <a:lstStyle/>
                    <a:p>
                      <a:pPr algn="just">
                        <a:lnSpc>
                          <a:spcPct val="150000"/>
                        </a:lnSpc>
                        <a:spcAft>
                          <a:spcPts val="800"/>
                        </a:spcAft>
                        <a:buNone/>
                      </a:pPr>
                      <a:r>
                        <a:rPr lang="en-GB" sz="600" kern="0">
                          <a:effectLst/>
                        </a:rPr>
                        <a:t>[12]</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and Sentinel-1 SAR</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Integrated data improved flood analysis</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Data-intensive approach may limit transferability</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2351277378"/>
                  </a:ext>
                </a:extLst>
              </a:tr>
              <a:tr h="471040">
                <a:tc>
                  <a:txBody>
                    <a:bodyPr/>
                    <a:lstStyle/>
                    <a:p>
                      <a:pPr algn="just">
                        <a:lnSpc>
                          <a:spcPct val="150000"/>
                        </a:lnSpc>
                        <a:spcAft>
                          <a:spcPts val="800"/>
                        </a:spcAft>
                        <a:buNone/>
                      </a:pPr>
                      <a:r>
                        <a:rPr lang="en-GB" sz="600" kern="0">
                          <a:effectLst/>
                        </a:rPr>
                        <a:t>[13]</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remote sensing and GEE</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Integrated technologies supported flood prediction</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Technological complexity does not ensure generalisability</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4121311054"/>
                  </a:ext>
                </a:extLst>
              </a:tr>
              <a:tr h="471040">
                <a:tc>
                  <a:txBody>
                    <a:bodyPr/>
                    <a:lstStyle/>
                    <a:p>
                      <a:pPr algn="just">
                        <a:lnSpc>
                          <a:spcPct val="150000"/>
                        </a:lnSpc>
                        <a:spcAft>
                          <a:spcPts val="800"/>
                        </a:spcAft>
                        <a:buNone/>
                      </a:pPr>
                      <a:r>
                        <a:rPr lang="en-GB" sz="600" kern="0">
                          <a:effectLst/>
                        </a:rPr>
                        <a:t>[14]</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and sampling analysis</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Sampling decisions influenced model outcomes</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Demonstrates data-related uncertainty</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194189191"/>
                  </a:ext>
                </a:extLst>
              </a:tr>
              <a:tr h="471040">
                <a:tc>
                  <a:txBody>
                    <a:bodyPr/>
                    <a:lstStyle/>
                    <a:p>
                      <a:pPr algn="just">
                        <a:lnSpc>
                          <a:spcPct val="150000"/>
                        </a:lnSpc>
                        <a:spcAft>
                          <a:spcPts val="800"/>
                        </a:spcAft>
                        <a:buNone/>
                      </a:pPr>
                      <a:r>
                        <a:rPr lang="en-GB" sz="600" kern="0">
                          <a:effectLst/>
                        </a:rPr>
                        <a:t>[15]</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ML forecasting system</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a:effectLst/>
                        </a:rPr>
                        <a:t>Demonstrated practical forecasting potential</a:t>
                      </a:r>
                      <a:endParaRPr lang="en-IN" sz="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tc>
                  <a:txBody>
                    <a:bodyPr/>
                    <a:lstStyle/>
                    <a:p>
                      <a:pPr algn="just">
                        <a:lnSpc>
                          <a:spcPct val="150000"/>
                        </a:lnSpc>
                        <a:spcAft>
                          <a:spcPts val="800"/>
                        </a:spcAft>
                        <a:buNone/>
                      </a:pPr>
                      <a:r>
                        <a:rPr lang="en-GB" sz="600" kern="0" dirty="0">
                          <a:effectLst/>
                        </a:rPr>
                        <a:t>Findings from one region may not transfer elsewhere</a:t>
                      </a:r>
                      <a:endParaRPr lang="en-IN" sz="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1766" marR="31766" marT="0" marB="0"/>
                </a:tc>
                <a:extLst>
                  <a:ext uri="{0D108BD9-81ED-4DB2-BD59-A6C34878D82A}">
                    <a16:rowId xmlns:a16="http://schemas.microsoft.com/office/drawing/2014/main" val="144013371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B526-054D-4035-B58B-AB5B921BC4FD}"/>
              </a:ext>
            </a:extLst>
          </p:cNvPr>
          <p:cNvSpPr>
            <a:spLocks noGrp="1"/>
          </p:cNvSpPr>
          <p:nvPr>
            <p:ph type="title"/>
          </p:nvPr>
        </p:nvSpPr>
        <p:spPr>
          <a:xfrm>
            <a:off x="3880402" y="23262"/>
            <a:ext cx="4418494" cy="518795"/>
          </a:xfrm>
        </p:spPr>
        <p:txBody>
          <a:bodyPr wrap="square">
            <a:normAutofit/>
          </a:bodyPr>
          <a:lstStyle/>
          <a:p>
            <a:r>
              <a:rPr lang="en-IN" sz="3300" b="1" dirty="0"/>
              <a:t>Machine Learning Model</a:t>
            </a:r>
            <a:endParaRPr lang="en-IN" sz="3300" dirty="0"/>
          </a:p>
        </p:txBody>
      </p:sp>
      <p:sp>
        <p:nvSpPr>
          <p:cNvPr id="3" name="Text Placeholder 2">
            <a:extLst>
              <a:ext uri="{FF2B5EF4-FFF2-40B4-BE49-F238E27FC236}">
                <a16:creationId xmlns:a16="http://schemas.microsoft.com/office/drawing/2014/main" id="{58F34624-CFB7-5CC0-1BEE-5299C92CCE08}"/>
              </a:ext>
            </a:extLst>
          </p:cNvPr>
          <p:cNvSpPr>
            <a:spLocks noGrp="1"/>
          </p:cNvSpPr>
          <p:nvPr>
            <p:ph sz="half" idx="2"/>
          </p:nvPr>
        </p:nvSpPr>
        <p:spPr>
          <a:xfrm>
            <a:off x="608965" y="1577340"/>
            <a:ext cx="5297995" cy="4526280"/>
          </a:xfrm>
        </p:spPr>
        <p:txBody>
          <a:bodyPr wrap="square">
            <a:normAutofit/>
          </a:bodyPr>
          <a:lstStyle/>
          <a:p>
            <a:pPr marL="457200" lvl="0" indent="-457200">
              <a:lnSpc>
                <a:spcPct val="90000"/>
              </a:lnSpc>
              <a:spcAft>
                <a:spcPts val="600"/>
              </a:spcAft>
              <a:buFont typeface="Arial" panose="020B0604020202020204" pitchFamily="34" charset="0"/>
              <a:buChar char="•"/>
            </a:pPr>
            <a:r>
              <a:rPr lang="en-IN" sz="2200"/>
              <a:t>The pre-processed dataset is divided into training, validation and testing sets for reliable model development. </a:t>
            </a:r>
          </a:p>
          <a:p>
            <a:pPr marL="457200" lvl="0" indent="-457200">
              <a:lnSpc>
                <a:spcPct val="90000"/>
              </a:lnSpc>
              <a:spcAft>
                <a:spcPts val="600"/>
              </a:spcAft>
              <a:buFont typeface="Arial" panose="020B0604020202020204" pitchFamily="34" charset="0"/>
              <a:buChar char="•"/>
            </a:pPr>
            <a:r>
              <a:rPr lang="en-IN" sz="2200"/>
              <a:t>A stacking ensemble model combines Random Forest and </a:t>
            </a:r>
            <a:r>
              <a:rPr lang="en-IN" sz="2200" err="1"/>
              <a:t>XGBoost</a:t>
            </a:r>
            <a:r>
              <a:rPr lang="en-IN" sz="2200"/>
              <a:t> as base learners. </a:t>
            </a:r>
          </a:p>
          <a:p>
            <a:pPr marL="457200" lvl="0" indent="-457200">
              <a:lnSpc>
                <a:spcPct val="90000"/>
              </a:lnSpc>
              <a:spcAft>
                <a:spcPts val="600"/>
              </a:spcAft>
              <a:buFont typeface="Arial" panose="020B0604020202020204" pitchFamily="34" charset="0"/>
              <a:buChar char="•"/>
            </a:pPr>
            <a:r>
              <a:rPr lang="en-IN" sz="2200"/>
              <a:t>Logistic Regression acts as the meta-classifier by integrating predictions from the base models. </a:t>
            </a:r>
          </a:p>
          <a:p>
            <a:pPr marL="457200" lvl="0" indent="-457200">
              <a:lnSpc>
                <a:spcPct val="90000"/>
              </a:lnSpc>
              <a:spcAft>
                <a:spcPts val="600"/>
              </a:spcAft>
              <a:buFont typeface="Arial" panose="020B0604020202020204" pitchFamily="34" charset="0"/>
              <a:buChar char="•"/>
            </a:pPr>
            <a:r>
              <a:rPr lang="en-IN" sz="2200"/>
              <a:t>The final model predicts flood occurrence and is evaluated using standard classification metrics for performance comparison.</a:t>
            </a:r>
          </a:p>
          <a:p>
            <a:pPr marL="457200" indent="-457200">
              <a:lnSpc>
                <a:spcPct val="90000"/>
              </a:lnSpc>
              <a:spcAft>
                <a:spcPts val="600"/>
              </a:spcAft>
              <a:buFont typeface="Arial" panose="020B0604020202020204" pitchFamily="34" charset="0"/>
              <a:buChar char="•"/>
            </a:pPr>
            <a:endParaRPr lang="en-IN" sz="2200"/>
          </a:p>
        </p:txBody>
      </p:sp>
      <p:pic>
        <p:nvPicPr>
          <p:cNvPr id="5" name="Picture 4">
            <a:extLst>
              <a:ext uri="{FF2B5EF4-FFF2-40B4-BE49-F238E27FC236}">
                <a16:creationId xmlns:a16="http://schemas.microsoft.com/office/drawing/2014/main" id="{16B13B09-5E8F-03DB-D77D-B8D5C87BDAD3}"/>
              </a:ext>
            </a:extLst>
          </p:cNvPr>
          <p:cNvPicPr>
            <a:picLocks noChangeAspect="1"/>
          </p:cNvPicPr>
          <p:nvPr/>
        </p:nvPicPr>
        <p:blipFill>
          <a:blip r:embed="rId3"/>
          <a:stretch>
            <a:fillRect/>
          </a:stretch>
        </p:blipFill>
        <p:spPr>
          <a:xfrm>
            <a:off x="6272340" y="1066800"/>
            <a:ext cx="5297995" cy="2941053"/>
          </a:xfrm>
          <a:prstGeom prst="rect">
            <a:avLst/>
          </a:prstGeom>
          <a:noFill/>
        </p:spPr>
      </p:pic>
      <p:pic>
        <p:nvPicPr>
          <p:cNvPr id="7" name="Picture 6">
            <a:extLst>
              <a:ext uri="{FF2B5EF4-FFF2-40B4-BE49-F238E27FC236}">
                <a16:creationId xmlns:a16="http://schemas.microsoft.com/office/drawing/2014/main" id="{E93B6FAB-D8AB-465F-7ED5-B8EB9E01A4B2}"/>
              </a:ext>
            </a:extLst>
          </p:cNvPr>
          <p:cNvPicPr>
            <a:picLocks noChangeAspect="1"/>
          </p:cNvPicPr>
          <p:nvPr/>
        </p:nvPicPr>
        <p:blipFill>
          <a:blip r:embed="rId4"/>
          <a:stretch>
            <a:fillRect/>
          </a:stretch>
        </p:blipFill>
        <p:spPr>
          <a:xfrm>
            <a:off x="6172991" y="4267200"/>
            <a:ext cx="5496692" cy="2200582"/>
          </a:xfrm>
          <a:prstGeom prst="rect">
            <a:avLst/>
          </a:prstGeom>
        </p:spPr>
      </p:pic>
    </p:spTree>
    <p:extLst>
      <p:ext uri="{BB962C8B-B14F-4D97-AF65-F5344CB8AC3E}">
        <p14:creationId xmlns:p14="http://schemas.microsoft.com/office/powerpoint/2010/main" val="3522654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38C09-8090-F6D5-4E14-CBC1E066580A}"/>
              </a:ext>
            </a:extLst>
          </p:cNvPr>
          <p:cNvSpPr>
            <a:spLocks noGrp="1"/>
          </p:cNvSpPr>
          <p:nvPr>
            <p:ph type="title"/>
          </p:nvPr>
        </p:nvSpPr>
        <p:spPr>
          <a:xfrm>
            <a:off x="3194050" y="19050"/>
            <a:ext cx="6628848" cy="1107996"/>
          </a:xfrm>
        </p:spPr>
        <p:txBody>
          <a:bodyPr/>
          <a:lstStyle/>
          <a:p>
            <a:r>
              <a:rPr lang="en-IN" b="1" dirty="0"/>
              <a:t>Flood Risk Prediction System</a:t>
            </a:r>
            <a:endParaRPr lang="en-IN" dirty="0"/>
          </a:p>
        </p:txBody>
      </p:sp>
      <p:sp>
        <p:nvSpPr>
          <p:cNvPr id="3" name="Text Placeholder 2">
            <a:extLst>
              <a:ext uri="{FF2B5EF4-FFF2-40B4-BE49-F238E27FC236}">
                <a16:creationId xmlns:a16="http://schemas.microsoft.com/office/drawing/2014/main" id="{C91FE9DF-A1B2-A88E-1247-BCEF1A4F371E}"/>
              </a:ext>
            </a:extLst>
          </p:cNvPr>
          <p:cNvSpPr>
            <a:spLocks noGrp="1"/>
          </p:cNvSpPr>
          <p:nvPr>
            <p:ph type="body" idx="1"/>
          </p:nvPr>
        </p:nvSpPr>
        <p:spPr>
          <a:xfrm>
            <a:off x="298451" y="986790"/>
            <a:ext cx="6857999" cy="5601533"/>
          </a:xfrm>
        </p:spPr>
        <p:txBody>
          <a:bodyPr/>
          <a:lstStyle/>
          <a:p>
            <a:pPr marL="457200" lvl="0" indent="-457200">
              <a:buFont typeface="Arial" panose="020B0604020202020204" pitchFamily="34" charset="0"/>
              <a:buChar char="•"/>
            </a:pPr>
            <a:r>
              <a:rPr lang="en-IN" sz="2800" dirty="0"/>
              <a:t>A user-friendly prediction interface accepts meteorological, hydrological and geographical input parameters. </a:t>
            </a:r>
          </a:p>
          <a:p>
            <a:pPr marL="457200" lvl="0" indent="-457200">
              <a:buFont typeface="Arial" panose="020B0604020202020204" pitchFamily="34" charset="0"/>
              <a:buChar char="•"/>
            </a:pPr>
            <a:r>
              <a:rPr lang="en-IN" sz="2800" dirty="0"/>
              <a:t>The stacking ensemble model processes the input using Random Forest, </a:t>
            </a:r>
            <a:r>
              <a:rPr lang="en-IN" sz="2800" dirty="0" err="1"/>
              <a:t>XGBoost</a:t>
            </a:r>
            <a:r>
              <a:rPr lang="en-IN" sz="2800" dirty="0"/>
              <a:t> and Logistic Regression. </a:t>
            </a:r>
          </a:p>
          <a:p>
            <a:pPr marL="457200" lvl="0" indent="-457200">
              <a:buFont typeface="Arial" panose="020B0604020202020204" pitchFamily="34" charset="0"/>
              <a:buChar char="•"/>
            </a:pPr>
            <a:r>
              <a:rPr lang="en-IN" sz="2800" dirty="0"/>
              <a:t>The system predicts flood occurrence with a confidence score based on learned patterns. </a:t>
            </a:r>
          </a:p>
          <a:p>
            <a:pPr marL="457200" lvl="0" indent="-457200">
              <a:buFont typeface="Arial" panose="020B0604020202020204" pitchFamily="34" charset="0"/>
              <a:buChar char="•"/>
            </a:pPr>
            <a:r>
              <a:rPr lang="en-IN" sz="2800" dirty="0"/>
              <a:t>The prediction interface demonstrates the practical application of the developed machine learning framework for flood-risk assessment.</a:t>
            </a:r>
          </a:p>
          <a:p>
            <a:pPr marL="457200" indent="-457200">
              <a:buFont typeface="Arial" panose="020B0604020202020204" pitchFamily="34" charset="0"/>
              <a:buChar char="•"/>
            </a:pPr>
            <a:endParaRPr lang="en-IN" sz="2800" dirty="0"/>
          </a:p>
        </p:txBody>
      </p:sp>
      <p:pic>
        <p:nvPicPr>
          <p:cNvPr id="5" name="Picture 4">
            <a:extLst>
              <a:ext uri="{FF2B5EF4-FFF2-40B4-BE49-F238E27FC236}">
                <a16:creationId xmlns:a16="http://schemas.microsoft.com/office/drawing/2014/main" id="{AA446D25-7E48-905D-713D-2B9AEAE782B1}"/>
              </a:ext>
            </a:extLst>
          </p:cNvPr>
          <p:cNvPicPr>
            <a:picLocks noChangeAspect="1"/>
          </p:cNvPicPr>
          <p:nvPr/>
        </p:nvPicPr>
        <p:blipFill>
          <a:blip r:embed="rId3"/>
          <a:stretch>
            <a:fillRect/>
          </a:stretch>
        </p:blipFill>
        <p:spPr>
          <a:xfrm>
            <a:off x="7308850" y="1715579"/>
            <a:ext cx="4800600" cy="4143953"/>
          </a:xfrm>
          <a:prstGeom prst="rect">
            <a:avLst/>
          </a:prstGeom>
        </p:spPr>
      </p:pic>
    </p:spTree>
    <p:extLst>
      <p:ext uri="{BB962C8B-B14F-4D97-AF65-F5344CB8AC3E}">
        <p14:creationId xmlns:p14="http://schemas.microsoft.com/office/powerpoint/2010/main" val="208529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05B76-BF3D-D8DA-751B-5DCAFDDF19F1}"/>
              </a:ext>
            </a:extLst>
          </p:cNvPr>
          <p:cNvSpPr>
            <a:spLocks noGrp="1"/>
          </p:cNvSpPr>
          <p:nvPr>
            <p:ph type="title"/>
          </p:nvPr>
        </p:nvSpPr>
        <p:spPr>
          <a:xfrm>
            <a:off x="3880402" y="23262"/>
            <a:ext cx="4418494" cy="553998"/>
          </a:xfrm>
        </p:spPr>
        <p:txBody>
          <a:bodyPr/>
          <a:lstStyle/>
          <a:p>
            <a:r>
              <a:rPr lang="en-IN" b="1" dirty="0"/>
              <a:t>Contributions</a:t>
            </a:r>
            <a:endParaRPr lang="en-IN" dirty="0"/>
          </a:p>
        </p:txBody>
      </p:sp>
      <p:sp>
        <p:nvSpPr>
          <p:cNvPr id="3" name="Text Placeholder 2">
            <a:extLst>
              <a:ext uri="{FF2B5EF4-FFF2-40B4-BE49-F238E27FC236}">
                <a16:creationId xmlns:a16="http://schemas.microsoft.com/office/drawing/2014/main" id="{279E5DA1-4C9C-9420-2395-FD5606B81E31}"/>
              </a:ext>
            </a:extLst>
          </p:cNvPr>
          <p:cNvSpPr>
            <a:spLocks noGrp="1"/>
          </p:cNvSpPr>
          <p:nvPr>
            <p:ph type="body" idx="1"/>
          </p:nvPr>
        </p:nvSpPr>
        <p:spPr>
          <a:xfrm>
            <a:off x="222250" y="838200"/>
            <a:ext cx="10456545" cy="5909310"/>
          </a:xfrm>
        </p:spPr>
        <p:txBody>
          <a:bodyPr/>
          <a:lstStyle/>
          <a:p>
            <a:pPr marL="457200" lvl="0" indent="-457200">
              <a:buFont typeface="Arial" panose="020B0604020202020204" pitchFamily="34" charset="0"/>
              <a:buChar char="•"/>
            </a:pPr>
            <a:r>
              <a:rPr lang="en-IN" dirty="0"/>
              <a:t>Designed a complete machine learning workflow for flood-risk prediction using historical rainfall and river observation data. </a:t>
            </a:r>
          </a:p>
          <a:p>
            <a:pPr marL="457200" lvl="0" indent="-457200">
              <a:buFont typeface="Arial" panose="020B0604020202020204" pitchFamily="34" charset="0"/>
              <a:buChar char="•"/>
            </a:pPr>
            <a:r>
              <a:rPr lang="en-IN" dirty="0"/>
              <a:t>Implemented data preprocessing, feature encoding, scaling and dataset partitioning for reliable model training. </a:t>
            </a:r>
          </a:p>
          <a:p>
            <a:pPr marL="457200" lvl="0" indent="-457200">
              <a:buFont typeface="Arial" panose="020B0604020202020204" pitchFamily="34" charset="0"/>
              <a:buChar char="•"/>
            </a:pPr>
            <a:r>
              <a:rPr lang="en-IN" dirty="0"/>
              <a:t>Developed classification models with hyperparameter tuning and performance evaluation using standard metrics. </a:t>
            </a:r>
          </a:p>
          <a:p>
            <a:pPr marL="457200" indent="-457200">
              <a:buFont typeface="Arial" panose="020B0604020202020204" pitchFamily="34" charset="0"/>
              <a:buChar char="•"/>
            </a:pPr>
            <a:r>
              <a:rPr lang="en-IN" dirty="0"/>
              <a:t>Established a comparative framework to identify the most effective flood-risk prediction model under consistent experimental conditions.</a:t>
            </a:r>
          </a:p>
        </p:txBody>
      </p:sp>
    </p:spTree>
    <p:extLst>
      <p:ext uri="{BB962C8B-B14F-4D97-AF65-F5344CB8AC3E}">
        <p14:creationId xmlns:p14="http://schemas.microsoft.com/office/powerpoint/2010/main" val="2366002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E6CCE-F4D4-7F55-17B3-3758FD334A39}"/>
              </a:ext>
            </a:extLst>
          </p:cNvPr>
          <p:cNvSpPr>
            <a:spLocks noGrp="1"/>
          </p:cNvSpPr>
          <p:nvPr>
            <p:ph type="title"/>
          </p:nvPr>
        </p:nvSpPr>
        <p:spPr>
          <a:xfrm>
            <a:off x="3880402" y="23262"/>
            <a:ext cx="5181048" cy="1107996"/>
          </a:xfrm>
        </p:spPr>
        <p:txBody>
          <a:bodyPr/>
          <a:lstStyle/>
          <a:p>
            <a:r>
              <a:rPr lang="en-IN" b="1" dirty="0"/>
              <a:t>Conclusion &amp; Future Work</a:t>
            </a:r>
            <a:endParaRPr lang="en-IN" dirty="0"/>
          </a:p>
        </p:txBody>
      </p:sp>
      <p:sp>
        <p:nvSpPr>
          <p:cNvPr id="3" name="Text Placeholder 2">
            <a:extLst>
              <a:ext uri="{FF2B5EF4-FFF2-40B4-BE49-F238E27FC236}">
                <a16:creationId xmlns:a16="http://schemas.microsoft.com/office/drawing/2014/main" id="{03618E2B-0DD0-A3AA-7062-AE47C006B0B7}"/>
              </a:ext>
            </a:extLst>
          </p:cNvPr>
          <p:cNvSpPr>
            <a:spLocks noGrp="1"/>
          </p:cNvSpPr>
          <p:nvPr>
            <p:ph type="body" idx="1"/>
          </p:nvPr>
        </p:nvSpPr>
        <p:spPr>
          <a:xfrm>
            <a:off x="298450" y="914400"/>
            <a:ext cx="10456545" cy="5416868"/>
          </a:xfrm>
        </p:spPr>
        <p:txBody>
          <a:bodyPr/>
          <a:lstStyle/>
          <a:p>
            <a:pPr marL="457200" lvl="0" indent="-457200">
              <a:buFont typeface="Arial" panose="020B0604020202020204" pitchFamily="34" charset="0"/>
              <a:buChar char="•"/>
            </a:pPr>
            <a:r>
              <a:rPr lang="en-IN" dirty="0"/>
              <a:t>The project has established a complete machine learning framework for flood-risk prediction using historical rainfall and river observation data. </a:t>
            </a:r>
          </a:p>
          <a:p>
            <a:pPr marL="457200" lvl="0" indent="-457200">
              <a:buFont typeface="Arial" panose="020B0604020202020204" pitchFamily="34" charset="0"/>
              <a:buChar char="•"/>
            </a:pPr>
            <a:r>
              <a:rPr lang="en-IN" dirty="0"/>
              <a:t>Literature review, data preparation, preprocessing and model development have been successfully completed. </a:t>
            </a:r>
          </a:p>
          <a:p>
            <a:pPr marL="457200" lvl="0" indent="-457200">
              <a:buFont typeface="Arial" panose="020B0604020202020204" pitchFamily="34" charset="0"/>
              <a:buChar char="•"/>
            </a:pPr>
            <a:r>
              <a:rPr lang="en-IN" dirty="0"/>
              <a:t>Initial prediction results demonstrate the feasibility of the proposed machine learning approach. </a:t>
            </a:r>
          </a:p>
          <a:p>
            <a:pPr marL="457200" lvl="0" indent="-457200">
              <a:buFont typeface="Arial" panose="020B0604020202020204" pitchFamily="34" charset="0"/>
              <a:buChar char="•"/>
            </a:pPr>
            <a:r>
              <a:rPr lang="en-IN" dirty="0"/>
              <a:t>Future work will focus on model optimisation, comparative evaluation, result interpretation and dissertation completion.</a:t>
            </a:r>
          </a:p>
          <a:p>
            <a:pPr marL="457200" indent="-457200">
              <a:buFont typeface="Arial" panose="020B0604020202020204" pitchFamily="34" charset="0"/>
              <a:buChar char="•"/>
            </a:pPr>
            <a:endParaRPr lang="en-IN" dirty="0"/>
          </a:p>
        </p:txBody>
      </p:sp>
    </p:spTree>
    <p:extLst>
      <p:ext uri="{BB962C8B-B14F-4D97-AF65-F5344CB8AC3E}">
        <p14:creationId xmlns:p14="http://schemas.microsoft.com/office/powerpoint/2010/main" val="169926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203</TotalTime>
  <Words>1879</Words>
  <Application>Microsoft Office PowerPoint</Application>
  <PresentationFormat>Custom</PresentationFormat>
  <Paragraphs>148</Paragraphs>
  <Slides>12</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Arial</vt:lpstr>
      <vt:lpstr>Arial MT</vt:lpstr>
      <vt:lpstr>Calibri</vt:lpstr>
      <vt:lpstr>Lucida Sans Unicode</vt:lpstr>
      <vt:lpstr>Microsoft Sans Serif</vt:lpstr>
      <vt:lpstr>Tahoma</vt:lpstr>
      <vt:lpstr>Times New Roman</vt:lpstr>
      <vt:lpstr>Office Theme</vt:lpstr>
      <vt:lpstr>MSc Project</vt:lpstr>
      <vt:lpstr>Outline</vt:lpstr>
      <vt:lpstr>Context</vt:lpstr>
      <vt:lpstr>Problem Statement - WHY</vt:lpstr>
      <vt:lpstr>Objective - WHAT</vt:lpstr>
      <vt:lpstr>Methodology - HOW</vt:lpstr>
      <vt:lpstr>Project Management</vt:lpstr>
      <vt:lpstr>Literature Review</vt:lpstr>
      <vt:lpstr>Machine Learning Model</vt:lpstr>
      <vt:lpstr>Flood Risk Prediction System</vt:lpstr>
      <vt:lpstr>Contributions</vt:lpstr>
      <vt:lpstr>Conclusion &amp; 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GOKUL P</cp:lastModifiedBy>
  <cp:revision>4</cp:revision>
  <dcterms:created xsi:type="dcterms:W3CDTF">2026-08-01T06:42:16Z</dcterms:created>
  <dcterms:modified xsi:type="dcterms:W3CDTF">2026-08-05T00:57:23Z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2026-08-01T00:00:00Z</vt:filetime>
  </property>
  <property fmtid="{D5CDD505-2E9C-101B-9397-08002B2CF9AE}" pid="4" name="Producer">
    <vt:lpwstr>Skia/PDF m136</vt:lpwstr>
  </property>
  <property fmtid="{D5CDD505-2E9C-101B-9397-08002B2CF9AE}" pid="5" name="LastSaved">
    <vt:filetime>2026-08-01T00:00:00Z</vt:filetime>
  </property>
</Properties>
</file>