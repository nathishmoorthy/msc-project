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8" r:id="rId3"/>
    <p:sldId id="259" r:id="rId4"/>
    <p:sldId id="260" r:id="rId5"/>
    <p:sldId id="261" r:id="rId6"/>
    <p:sldId id="262" r:id="rId7"/>
    <p:sldId id="263" r:id="rId8"/>
    <p:sldId id="264" r:id="rId9"/>
    <p:sldId id="265" r:id="rId10"/>
    <p:sldId id="266" r:id="rId11"/>
  </p:sldIdLst>
  <p:sldSz cx="12179300" cy="6858000"/>
  <p:notesSz cx="121793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4"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78438"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899275" y="0"/>
            <a:ext cx="5276850" cy="344488"/>
          </a:xfrm>
          <a:prstGeom prst="rect">
            <a:avLst/>
          </a:prstGeom>
        </p:spPr>
        <p:txBody>
          <a:bodyPr vert="horz" lIns="91440" tIns="45720" rIns="91440" bIns="45720" rtlCol="0"/>
          <a:lstStyle>
            <a:lvl1pPr algn="r">
              <a:defRPr sz="1200"/>
            </a:lvl1pPr>
          </a:lstStyle>
          <a:p>
            <a:fld id="{A4F0C2D3-A7EC-4A0C-99F0-673EA496BE4E}" type="datetimeFigureOut">
              <a:rPr lang="en-US" smtClean="0"/>
              <a:t>7/16/2026</a:t>
            </a:fld>
            <a:endParaRPr lang="en-US"/>
          </a:p>
        </p:txBody>
      </p:sp>
      <p:sp>
        <p:nvSpPr>
          <p:cNvPr id="4" name="Slide Image Placeholder 3"/>
          <p:cNvSpPr>
            <a:spLocks noGrp="1" noRot="1" noChangeAspect="1"/>
          </p:cNvSpPr>
          <p:nvPr>
            <p:ph type="sldImg" idx="2"/>
          </p:nvPr>
        </p:nvSpPr>
        <p:spPr>
          <a:xfrm>
            <a:off x="4033838" y="857250"/>
            <a:ext cx="4111625"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7613" y="3300413"/>
            <a:ext cx="9744075"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78438"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899275" y="6513513"/>
            <a:ext cx="5276850" cy="344487"/>
          </a:xfrm>
          <a:prstGeom prst="rect">
            <a:avLst/>
          </a:prstGeom>
        </p:spPr>
        <p:txBody>
          <a:bodyPr vert="horz" lIns="91440" tIns="45720" rIns="91440" bIns="45720" rtlCol="0" anchor="b"/>
          <a:lstStyle>
            <a:lvl1pPr algn="r">
              <a:defRPr sz="1200"/>
            </a:lvl1pPr>
          </a:lstStyle>
          <a:p>
            <a:fld id="{A80F9C6A-C7D6-44C6-9363-D2F36A05D102}" type="slidenum">
              <a:rPr lang="en-US" smtClean="0"/>
              <a:t>‹#›</a:t>
            </a:fld>
            <a:endParaRPr lang="en-US"/>
          </a:p>
        </p:txBody>
      </p:sp>
    </p:spTree>
    <p:extLst>
      <p:ext uri="{BB962C8B-B14F-4D97-AF65-F5344CB8AC3E}">
        <p14:creationId xmlns:p14="http://schemas.microsoft.com/office/powerpoint/2010/main" val="3151127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note:</a:t>
            </a:r>
            <a:r>
              <a:rPr lang="en-US" sz="1200" kern="1200" dirty="0">
                <a:solidFill>
                  <a:schemeClr val="tx1"/>
                </a:solidFill>
                <a:effectLst/>
                <a:latin typeface="+mn-lt"/>
                <a:ea typeface="+mn-ea"/>
                <a:cs typeface="+mn-cs"/>
              </a:rPr>
              <a:t> This project analyses and compares machine learning methods for predicting flood risk using historical rainfall and river observation data, aiming to identify the most effective approach and provide recommendations for improving future flood prediction systems</a:t>
            </a:r>
            <a:endParaRPr lang="en-US" dirty="0"/>
          </a:p>
        </p:txBody>
      </p:sp>
      <p:sp>
        <p:nvSpPr>
          <p:cNvPr id="4" name="Slide Number Placeholder 3"/>
          <p:cNvSpPr>
            <a:spLocks noGrp="1"/>
          </p:cNvSpPr>
          <p:nvPr>
            <p:ph type="sldNum" sz="quarter" idx="5"/>
          </p:nvPr>
        </p:nvSpPr>
        <p:spPr/>
        <p:txBody>
          <a:bodyPr/>
          <a:lstStyle/>
          <a:p>
            <a:fld id="{A80F9C6A-C7D6-44C6-9363-D2F36A05D102}" type="slidenum">
              <a:rPr lang="en-US" smtClean="0"/>
              <a:t>3</a:t>
            </a:fld>
            <a:endParaRPr lang="en-US"/>
          </a:p>
        </p:txBody>
      </p:sp>
    </p:spTree>
    <p:extLst>
      <p:ext uri="{BB962C8B-B14F-4D97-AF65-F5344CB8AC3E}">
        <p14:creationId xmlns:p14="http://schemas.microsoft.com/office/powerpoint/2010/main" val="2560762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note:</a:t>
            </a:r>
            <a:r>
              <a:rPr lang="en-US" sz="1200" kern="1200" dirty="0">
                <a:solidFill>
                  <a:schemeClr val="tx1"/>
                </a:solidFill>
                <a:effectLst/>
                <a:latin typeface="+mn-lt"/>
                <a:ea typeface="+mn-ea"/>
                <a:cs typeface="+mn-cs"/>
              </a:rPr>
              <a:t> Flood prediction remains challenging because rainfall, river observations and environmental conditions interact in complex ways. Traditional forecasting methods often provide limited accuracy, affecting disaster management and vulnerable communities. Therefore, more reliable machine learning approaches are required to improve early warning and flood-risk prediction</a:t>
            </a:r>
            <a:endParaRPr lang="en-US" dirty="0"/>
          </a:p>
        </p:txBody>
      </p:sp>
      <p:sp>
        <p:nvSpPr>
          <p:cNvPr id="4" name="Slide Number Placeholder 3"/>
          <p:cNvSpPr>
            <a:spLocks noGrp="1"/>
          </p:cNvSpPr>
          <p:nvPr>
            <p:ph type="sldNum" sz="quarter" idx="5"/>
          </p:nvPr>
        </p:nvSpPr>
        <p:spPr/>
        <p:txBody>
          <a:bodyPr/>
          <a:lstStyle/>
          <a:p>
            <a:fld id="{A80F9C6A-C7D6-44C6-9363-D2F36A05D102}" type="slidenum">
              <a:rPr lang="en-US" smtClean="0"/>
              <a:t>4</a:t>
            </a:fld>
            <a:endParaRPr lang="en-US"/>
          </a:p>
        </p:txBody>
      </p:sp>
    </p:spTree>
    <p:extLst>
      <p:ext uri="{BB962C8B-B14F-4D97-AF65-F5344CB8AC3E}">
        <p14:creationId xmlns:p14="http://schemas.microsoft.com/office/powerpoint/2010/main" val="3420190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Speaker note</a:t>
            </a:r>
            <a:r>
              <a:rPr lang="en-US" sz="1200" kern="1200" dirty="0">
                <a:solidFill>
                  <a:schemeClr val="tx1"/>
                </a:solidFill>
                <a:effectLst/>
                <a:latin typeface="+mn-lt"/>
                <a:ea typeface="+mn-ea"/>
                <a:cs typeface="+mn-cs"/>
              </a:rPr>
              <a:t>: This project aims to </a:t>
            </a:r>
            <a:r>
              <a:rPr lang="en-US" sz="1200" kern="1200" dirty="0" err="1">
                <a:solidFill>
                  <a:schemeClr val="tx1"/>
                </a:solidFill>
                <a:effectLst/>
                <a:latin typeface="+mn-lt"/>
                <a:ea typeface="+mn-ea"/>
                <a:cs typeface="+mn-cs"/>
              </a:rPr>
              <a:t>analyse</a:t>
            </a:r>
            <a:r>
              <a:rPr lang="en-US" sz="1200" kern="1200" dirty="0">
                <a:solidFill>
                  <a:schemeClr val="tx1"/>
                </a:solidFill>
                <a:effectLst/>
                <a:latin typeface="+mn-lt"/>
                <a:ea typeface="+mn-ea"/>
                <a:cs typeface="+mn-cs"/>
              </a:rPr>
              <a:t> and compare machine learning methods for predicting flood risk using historical rainfall and river observation data. To achieve this aim, five research objectives have been established. These include reviewing existing literature, </a:t>
            </a:r>
            <a:r>
              <a:rPr lang="en-US" sz="1200" kern="1200" dirty="0" err="1">
                <a:solidFill>
                  <a:schemeClr val="tx1"/>
                </a:solidFill>
                <a:effectLst/>
                <a:latin typeface="+mn-lt"/>
                <a:ea typeface="+mn-ea"/>
                <a:cs typeface="+mn-cs"/>
              </a:rPr>
              <a:t>analysing</a:t>
            </a:r>
            <a:r>
              <a:rPr lang="en-US" sz="1200" kern="1200" dirty="0">
                <a:solidFill>
                  <a:schemeClr val="tx1"/>
                </a:solidFill>
                <a:effectLst/>
                <a:latin typeface="+mn-lt"/>
                <a:ea typeface="+mn-ea"/>
                <a:cs typeface="+mn-cs"/>
              </a:rPr>
              <a:t> the influence of environmental and hydrological variables, evaluating the limitations of traditional prediction approaches, developing and comparing selected machine learning models, and finally providing evidence-based recommendations to improve future flood-risk prediction systems. These objectives provide the foundation for the methodology and guide the overall dissertation.</a:t>
            </a:r>
          </a:p>
          <a:p>
            <a:endParaRPr lang="en-US" dirty="0"/>
          </a:p>
        </p:txBody>
      </p:sp>
      <p:sp>
        <p:nvSpPr>
          <p:cNvPr id="4" name="Slide Number Placeholder 3"/>
          <p:cNvSpPr>
            <a:spLocks noGrp="1"/>
          </p:cNvSpPr>
          <p:nvPr>
            <p:ph type="sldNum" sz="quarter" idx="5"/>
          </p:nvPr>
        </p:nvSpPr>
        <p:spPr/>
        <p:txBody>
          <a:bodyPr/>
          <a:lstStyle/>
          <a:p>
            <a:fld id="{A80F9C6A-C7D6-44C6-9363-D2F36A05D102}" type="slidenum">
              <a:rPr lang="en-US" smtClean="0"/>
              <a:t>5</a:t>
            </a:fld>
            <a:endParaRPr lang="en-US"/>
          </a:p>
        </p:txBody>
      </p:sp>
    </p:spTree>
    <p:extLst>
      <p:ext uri="{BB962C8B-B14F-4D97-AF65-F5344CB8AC3E}">
        <p14:creationId xmlns:p14="http://schemas.microsoft.com/office/powerpoint/2010/main" val="3613326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Notes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study adopts a quantitative experimental approach using historical rainfall and river observation data. Following preprocessing, exploratory data analysis and feature engineering, multiple machine learning models will be developed and evaluated using Accuracy, Precision, Recall, F1-score and ROC-AUC in Google </a:t>
            </a:r>
            <a:r>
              <a:rPr lang="en-US" sz="1200" kern="1200" dirty="0" err="1">
                <a:solidFill>
                  <a:schemeClr val="tx1"/>
                </a:solidFill>
                <a:effectLst/>
                <a:latin typeface="+mn-lt"/>
                <a:ea typeface="+mn-ea"/>
                <a:cs typeface="+mn-cs"/>
              </a:rPr>
              <a:t>Colab</a:t>
            </a:r>
            <a:endParaRPr lang="en-US" dirty="0"/>
          </a:p>
        </p:txBody>
      </p:sp>
      <p:sp>
        <p:nvSpPr>
          <p:cNvPr id="4" name="Slide Number Placeholder 3"/>
          <p:cNvSpPr>
            <a:spLocks noGrp="1"/>
          </p:cNvSpPr>
          <p:nvPr>
            <p:ph type="sldNum" sz="quarter" idx="5"/>
          </p:nvPr>
        </p:nvSpPr>
        <p:spPr/>
        <p:txBody>
          <a:bodyPr/>
          <a:lstStyle/>
          <a:p>
            <a:fld id="{A80F9C6A-C7D6-44C6-9363-D2F36A05D102}" type="slidenum">
              <a:rPr lang="en-US" smtClean="0"/>
              <a:t>6</a:t>
            </a:fld>
            <a:endParaRPr lang="en-US"/>
          </a:p>
        </p:txBody>
      </p:sp>
    </p:spTree>
    <p:extLst>
      <p:ext uri="{BB962C8B-B14F-4D97-AF65-F5344CB8AC3E}">
        <p14:creationId xmlns:p14="http://schemas.microsoft.com/office/powerpoint/2010/main" val="39844354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Notes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project is being managed using a milestone-based approach supported by a Gantt chart. The completed activities include topic approval, literature review, technology review and dataset selection. The project has now progressed into the implementation stage, where data preprocessing and machine learning model development are underway. The remaining work includes model evaluation, interpretation of results, report completion and dissertation submission. This structured timeline helps ensure that each stage is completed within the planned schedule.</a:t>
            </a:r>
          </a:p>
          <a:p>
            <a:endParaRPr lang="en-US" dirty="0"/>
          </a:p>
        </p:txBody>
      </p:sp>
      <p:sp>
        <p:nvSpPr>
          <p:cNvPr id="4" name="Slide Number Placeholder 3"/>
          <p:cNvSpPr>
            <a:spLocks noGrp="1"/>
          </p:cNvSpPr>
          <p:nvPr>
            <p:ph type="sldNum" sz="quarter" idx="5"/>
          </p:nvPr>
        </p:nvSpPr>
        <p:spPr/>
        <p:txBody>
          <a:bodyPr/>
          <a:lstStyle/>
          <a:p>
            <a:fld id="{A80F9C6A-C7D6-44C6-9363-D2F36A05D102}" type="slidenum">
              <a:rPr lang="en-US" smtClean="0"/>
              <a:t>7</a:t>
            </a:fld>
            <a:endParaRPr lang="en-US"/>
          </a:p>
        </p:txBody>
      </p:sp>
    </p:spTree>
    <p:extLst>
      <p:ext uri="{BB962C8B-B14F-4D97-AF65-F5344CB8AC3E}">
        <p14:creationId xmlns:p14="http://schemas.microsoft.com/office/powerpoint/2010/main" val="3242283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Speaker Notes </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literature review shows that machine learning generally outperforms traditional flood prediction methods, although performance varies with datasets, predictor variables and evaluation techniques. No single model consistently performs best across all studies, highlighting the need for a fair comparison of machine learning methods using a common historical flood dataset</a:t>
            </a:r>
            <a:endParaRPr lang="en-US" dirty="0"/>
          </a:p>
        </p:txBody>
      </p:sp>
      <p:sp>
        <p:nvSpPr>
          <p:cNvPr id="4" name="Slide Number Placeholder 3"/>
          <p:cNvSpPr>
            <a:spLocks noGrp="1"/>
          </p:cNvSpPr>
          <p:nvPr>
            <p:ph type="sldNum" sz="quarter" idx="5"/>
          </p:nvPr>
        </p:nvSpPr>
        <p:spPr/>
        <p:txBody>
          <a:bodyPr/>
          <a:lstStyle/>
          <a:p>
            <a:fld id="{A80F9C6A-C7D6-44C6-9363-D2F36A05D102}" type="slidenum">
              <a:rPr lang="en-US" smtClean="0"/>
              <a:t>8</a:t>
            </a:fld>
            <a:endParaRPr lang="en-US"/>
          </a:p>
        </p:txBody>
      </p:sp>
    </p:spTree>
    <p:extLst>
      <p:ext uri="{BB962C8B-B14F-4D97-AF65-F5344CB8AC3E}">
        <p14:creationId xmlns:p14="http://schemas.microsoft.com/office/powerpoint/2010/main" val="1704650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Speaker Notes : </a:t>
            </a:r>
            <a:r>
              <a:rPr lang="en-US" sz="1200" kern="1200" dirty="0">
                <a:solidFill>
                  <a:schemeClr val="tx1"/>
                </a:solidFill>
                <a:effectLst/>
                <a:latin typeface="+mn-lt"/>
                <a:ea typeface="+mn-ea"/>
                <a:cs typeface="+mn-cs"/>
              </a:rPr>
              <a:t>At this stage, the proposal, literature review, technology review and methodology have been completed. The project has now entered the implementation phase, where data preprocessing, exploratory data analysis and feature engineering are currently being undertaken. The remaining tasks include developing and evaluating the selected machine learning models, </a:t>
            </a:r>
            <a:r>
              <a:rPr lang="en-US" sz="1200" kern="1200" dirty="0" err="1">
                <a:solidFill>
                  <a:schemeClr val="tx1"/>
                </a:solidFill>
                <a:effectLst/>
                <a:latin typeface="+mn-lt"/>
                <a:ea typeface="+mn-ea"/>
                <a:cs typeface="+mn-cs"/>
              </a:rPr>
              <a:t>analysing</a:t>
            </a:r>
            <a:r>
              <a:rPr lang="en-US" sz="1200" kern="1200" dirty="0">
                <a:solidFill>
                  <a:schemeClr val="tx1"/>
                </a:solidFill>
                <a:effectLst/>
                <a:latin typeface="+mn-lt"/>
                <a:ea typeface="+mn-ea"/>
                <a:cs typeface="+mn-cs"/>
              </a:rPr>
              <a:t> the results and completing the dissertation. Although some challenges related to data quality and model </a:t>
            </a:r>
            <a:r>
              <a:rPr lang="en-US" sz="1200" kern="1200" dirty="0" err="1">
                <a:solidFill>
                  <a:schemeClr val="tx1"/>
                </a:solidFill>
                <a:effectLst/>
                <a:latin typeface="+mn-lt"/>
                <a:ea typeface="+mn-ea"/>
                <a:cs typeface="+mn-cs"/>
              </a:rPr>
              <a:t>optimisation</a:t>
            </a:r>
            <a:r>
              <a:rPr lang="en-US" sz="1200" kern="1200" dirty="0">
                <a:solidFill>
                  <a:schemeClr val="tx1"/>
                </a:solidFill>
                <a:effectLst/>
                <a:latin typeface="+mn-lt"/>
                <a:ea typeface="+mn-ea"/>
                <a:cs typeface="+mn-cs"/>
              </a:rPr>
              <a:t> are expected, the project remains on schedule and is progressing according to the planned timeline.</a:t>
            </a:r>
          </a:p>
          <a:p>
            <a:endParaRPr lang="en-US" dirty="0"/>
          </a:p>
        </p:txBody>
      </p:sp>
      <p:sp>
        <p:nvSpPr>
          <p:cNvPr id="4" name="Slide Number Placeholder 3"/>
          <p:cNvSpPr>
            <a:spLocks noGrp="1"/>
          </p:cNvSpPr>
          <p:nvPr>
            <p:ph type="sldNum" sz="quarter" idx="5"/>
          </p:nvPr>
        </p:nvSpPr>
        <p:spPr/>
        <p:txBody>
          <a:bodyPr/>
          <a:lstStyle/>
          <a:p>
            <a:fld id="{A80F9C6A-C7D6-44C6-9363-D2F36A05D102}" type="slidenum">
              <a:rPr lang="en-US" smtClean="0"/>
              <a:t>9</a:t>
            </a:fld>
            <a:endParaRPr lang="en-US"/>
          </a:p>
        </p:txBody>
      </p:sp>
    </p:spTree>
    <p:extLst>
      <p:ext uri="{BB962C8B-B14F-4D97-AF65-F5344CB8AC3E}">
        <p14:creationId xmlns:p14="http://schemas.microsoft.com/office/powerpoint/2010/main" val="22753651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3447" y="2125980"/>
            <a:ext cx="10352405" cy="1440180"/>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6895" y="3840480"/>
            <a:ext cx="8525510" cy="1714500"/>
          </a:xfrm>
          <a:prstGeom prst="rect">
            <a:avLst/>
          </a:prstGeom>
        </p:spPr>
        <p:txBody>
          <a:bodyPr wrap="square" lIns="0" tIns="0" rIns="0" bIns="0">
            <a:spAutoFit/>
          </a:bodyPr>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sz="half" idx="2"/>
          </p:nvPr>
        </p:nvSpPr>
        <p:spPr>
          <a:xfrm>
            <a:off x="608965" y="1577340"/>
            <a:ext cx="5297995"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2339" y="1577340"/>
            <a:ext cx="5297995"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79300" cy="6851015"/>
          </a:xfrm>
          <a:custGeom>
            <a:avLst/>
            <a:gdLst/>
            <a:ahLst/>
            <a:cxnLst/>
            <a:rect l="l" t="t" r="r" b="b"/>
            <a:pathLst>
              <a:path w="12179300" h="6851015">
                <a:moveTo>
                  <a:pt x="12179299" y="6850856"/>
                </a:moveTo>
                <a:lnTo>
                  <a:pt x="0" y="6850856"/>
                </a:lnTo>
                <a:lnTo>
                  <a:pt x="0" y="0"/>
                </a:lnTo>
                <a:lnTo>
                  <a:pt x="12179299" y="0"/>
                </a:lnTo>
                <a:lnTo>
                  <a:pt x="12179299" y="6850856"/>
                </a:lnTo>
                <a:close/>
              </a:path>
            </a:pathLst>
          </a:custGeom>
          <a:solidFill>
            <a:srgbClr val="F7F5CA"/>
          </a:solidFill>
        </p:spPr>
        <p:txBody>
          <a:bodyPr wrap="square" lIns="0" tIns="0" rIns="0" bIns="0" rtlCol="0"/>
          <a:lstStyle/>
          <a:p>
            <a:endParaRPr/>
          </a:p>
        </p:txBody>
      </p:sp>
      <p:sp>
        <p:nvSpPr>
          <p:cNvPr id="17" name="bg object 17"/>
          <p:cNvSpPr/>
          <p:nvPr/>
        </p:nvSpPr>
        <p:spPr>
          <a:xfrm>
            <a:off x="341643" y="673128"/>
            <a:ext cx="11508105" cy="0"/>
          </a:xfrm>
          <a:custGeom>
            <a:avLst/>
            <a:gdLst/>
            <a:ahLst/>
            <a:cxnLst/>
            <a:rect l="l" t="t" r="r" b="b"/>
            <a:pathLst>
              <a:path w="11508105">
                <a:moveTo>
                  <a:pt x="0" y="0"/>
                </a:moveTo>
                <a:lnTo>
                  <a:pt x="11507999" y="0"/>
                </a:lnTo>
              </a:path>
            </a:pathLst>
          </a:custGeom>
          <a:ln w="19030">
            <a:solidFill>
              <a:srgbClr val="053432"/>
            </a:solidFill>
          </a:ln>
        </p:spPr>
        <p:txBody>
          <a:bodyPr wrap="square" lIns="0" tIns="0" rIns="0" bIns="0" rtlCol="0"/>
          <a:lstStyle/>
          <a:p>
            <a:endParaRPr/>
          </a:p>
        </p:txBody>
      </p:sp>
      <p:sp>
        <p:nvSpPr>
          <p:cNvPr id="2" name="Holder 2"/>
          <p:cNvSpPr>
            <a:spLocks noGrp="1"/>
          </p:cNvSpPr>
          <p:nvPr>
            <p:ph type="title"/>
          </p:nvPr>
        </p:nvSpPr>
        <p:spPr>
          <a:xfrm>
            <a:off x="3880402" y="23262"/>
            <a:ext cx="4418494" cy="518795"/>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a:xfrm>
            <a:off x="219232" y="1469876"/>
            <a:ext cx="10456545" cy="4107179"/>
          </a:xfrm>
          <a:prstGeom prst="rect">
            <a:avLst/>
          </a:prstGeom>
        </p:spPr>
        <p:txBody>
          <a:bodyPr wrap="square" lIns="0" tIns="0" rIns="0" bIns="0">
            <a:spAutoFit/>
          </a:bodyPr>
          <a:lstStyle>
            <a:lvl1pPr>
              <a:defRPr sz="32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4140962" y="6377940"/>
            <a:ext cx="3897376"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8965" y="6377940"/>
            <a:ext cx="2801239"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7/16/2026</a:t>
            </a:fld>
            <a:endParaRPr lang="en-US"/>
          </a:p>
        </p:txBody>
      </p:sp>
      <p:sp>
        <p:nvSpPr>
          <p:cNvPr id="6" name="Holder 6"/>
          <p:cNvSpPr>
            <a:spLocks noGrp="1"/>
          </p:cNvSpPr>
          <p:nvPr>
            <p:ph type="sldNum" sz="quarter" idx="7"/>
          </p:nvPr>
        </p:nvSpPr>
        <p:spPr>
          <a:xfrm>
            <a:off x="8769096" y="6377940"/>
            <a:ext cx="2801239"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79300" cy="6851015"/>
          </a:xfrm>
          <a:custGeom>
            <a:avLst/>
            <a:gdLst/>
            <a:ahLst/>
            <a:cxnLst/>
            <a:rect l="l" t="t" r="r" b="b"/>
            <a:pathLst>
              <a:path w="12179300" h="6851015">
                <a:moveTo>
                  <a:pt x="12179299" y="6850856"/>
                </a:moveTo>
                <a:lnTo>
                  <a:pt x="0" y="6850856"/>
                </a:lnTo>
                <a:lnTo>
                  <a:pt x="0" y="0"/>
                </a:lnTo>
                <a:lnTo>
                  <a:pt x="12179299" y="0"/>
                </a:lnTo>
                <a:lnTo>
                  <a:pt x="12179299" y="6850856"/>
                </a:lnTo>
                <a:close/>
              </a:path>
            </a:pathLst>
          </a:custGeom>
          <a:solidFill>
            <a:srgbClr val="053432"/>
          </a:solidFill>
        </p:spPr>
        <p:txBody>
          <a:bodyPr wrap="square" lIns="0" tIns="0" rIns="0" bIns="0" rtlCol="0"/>
          <a:lstStyle/>
          <a:p>
            <a:endParaRPr/>
          </a:p>
        </p:txBody>
      </p:sp>
      <p:sp>
        <p:nvSpPr>
          <p:cNvPr id="3" name="object 3"/>
          <p:cNvSpPr/>
          <p:nvPr/>
        </p:nvSpPr>
        <p:spPr>
          <a:xfrm>
            <a:off x="335650" y="546903"/>
            <a:ext cx="11508105" cy="0"/>
          </a:xfrm>
          <a:custGeom>
            <a:avLst/>
            <a:gdLst/>
            <a:ahLst/>
            <a:cxnLst/>
            <a:rect l="l" t="t" r="r" b="b"/>
            <a:pathLst>
              <a:path w="11508105">
                <a:moveTo>
                  <a:pt x="0" y="0"/>
                </a:moveTo>
                <a:lnTo>
                  <a:pt x="11507999" y="0"/>
                </a:lnTo>
              </a:path>
            </a:pathLst>
          </a:custGeom>
          <a:ln w="19030">
            <a:solidFill>
              <a:srgbClr val="F1B57C"/>
            </a:solidFill>
          </a:ln>
        </p:spPr>
        <p:txBody>
          <a:bodyPr wrap="square" lIns="0" tIns="0" rIns="0" bIns="0" rtlCol="0"/>
          <a:lstStyle/>
          <a:p>
            <a:endParaRPr/>
          </a:p>
        </p:txBody>
      </p:sp>
      <p:sp>
        <p:nvSpPr>
          <p:cNvPr id="4" name="object 4"/>
          <p:cNvSpPr/>
          <p:nvPr/>
        </p:nvSpPr>
        <p:spPr>
          <a:xfrm>
            <a:off x="335650" y="6308904"/>
            <a:ext cx="11508105" cy="0"/>
          </a:xfrm>
          <a:custGeom>
            <a:avLst/>
            <a:gdLst/>
            <a:ahLst/>
            <a:cxnLst/>
            <a:rect l="l" t="t" r="r" b="b"/>
            <a:pathLst>
              <a:path w="11508105">
                <a:moveTo>
                  <a:pt x="0" y="0"/>
                </a:moveTo>
                <a:lnTo>
                  <a:pt x="11507999" y="0"/>
                </a:lnTo>
              </a:path>
            </a:pathLst>
          </a:custGeom>
          <a:ln w="19030">
            <a:solidFill>
              <a:srgbClr val="F1B57C"/>
            </a:solidFill>
          </a:ln>
        </p:spPr>
        <p:txBody>
          <a:bodyPr wrap="square" lIns="0" tIns="0" rIns="0" bIns="0" rtlCol="0"/>
          <a:lstStyle/>
          <a:p>
            <a:endParaRPr/>
          </a:p>
        </p:txBody>
      </p:sp>
      <p:sp>
        <p:nvSpPr>
          <p:cNvPr id="5" name="object 5"/>
          <p:cNvSpPr txBox="1"/>
          <p:nvPr/>
        </p:nvSpPr>
        <p:spPr>
          <a:xfrm>
            <a:off x="1822450" y="2639501"/>
            <a:ext cx="8305800" cy="627736"/>
          </a:xfrm>
          <a:prstGeom prst="rect">
            <a:avLst/>
          </a:prstGeom>
        </p:spPr>
        <p:txBody>
          <a:bodyPr vert="horz" wrap="square" lIns="0" tIns="12065" rIns="0" bIns="0" rtlCol="0">
            <a:spAutoFit/>
          </a:bodyPr>
          <a:lstStyle/>
          <a:p>
            <a:pPr marL="12700" algn="ctr">
              <a:lnSpc>
                <a:spcPct val="100000"/>
              </a:lnSpc>
              <a:spcBef>
                <a:spcPts val="95"/>
              </a:spcBef>
            </a:pPr>
            <a:r>
              <a:rPr lang="en-US" sz="2000" b="1" dirty="0" err="1">
                <a:solidFill>
                  <a:srgbClr val="92D050"/>
                </a:solidFill>
              </a:rPr>
              <a:t>Analysing</a:t>
            </a:r>
            <a:r>
              <a:rPr lang="en-US" sz="2000" b="1" dirty="0">
                <a:solidFill>
                  <a:srgbClr val="92D050"/>
                </a:solidFill>
              </a:rPr>
              <a:t> Machine Learning Methods for Predicting Flood Risk Using Historical Rainfall and River Observation Data</a:t>
            </a:r>
            <a:endParaRPr sz="2000" dirty="0">
              <a:solidFill>
                <a:srgbClr val="92D050"/>
              </a:solidFill>
              <a:latin typeface="Calibri"/>
              <a:cs typeface="Calibri"/>
            </a:endParaRPr>
          </a:p>
        </p:txBody>
      </p:sp>
      <p:sp>
        <p:nvSpPr>
          <p:cNvPr id="6" name="object 6"/>
          <p:cNvSpPr txBox="1"/>
          <p:nvPr/>
        </p:nvSpPr>
        <p:spPr>
          <a:xfrm>
            <a:off x="2365799" y="4505435"/>
            <a:ext cx="2851785" cy="998219"/>
          </a:xfrm>
          <a:prstGeom prst="rect">
            <a:avLst/>
          </a:prstGeom>
        </p:spPr>
        <p:txBody>
          <a:bodyPr vert="horz" wrap="square" lIns="0" tIns="27305" rIns="0" bIns="0" rtlCol="0">
            <a:spAutoFit/>
          </a:bodyPr>
          <a:lstStyle/>
          <a:p>
            <a:pPr marL="12700" marR="5080">
              <a:lnSpc>
                <a:spcPts val="3820"/>
              </a:lnSpc>
              <a:spcBef>
                <a:spcPts val="215"/>
              </a:spcBef>
            </a:pPr>
            <a:r>
              <a:rPr sz="3200" dirty="0">
                <a:solidFill>
                  <a:srgbClr val="F7F5CA"/>
                </a:solidFill>
                <a:latin typeface="Calibri"/>
                <a:cs typeface="Calibri"/>
              </a:rPr>
              <a:t>Student</a:t>
            </a:r>
            <a:r>
              <a:rPr sz="3200" spc="-140" dirty="0">
                <a:solidFill>
                  <a:srgbClr val="F7F5CA"/>
                </a:solidFill>
                <a:latin typeface="Calibri"/>
                <a:cs typeface="Calibri"/>
              </a:rPr>
              <a:t> </a:t>
            </a:r>
            <a:r>
              <a:rPr sz="3200" spc="-10" dirty="0">
                <a:solidFill>
                  <a:srgbClr val="F7F5CA"/>
                </a:solidFill>
                <a:latin typeface="Calibri"/>
                <a:cs typeface="Calibri"/>
              </a:rPr>
              <a:t>Name: </a:t>
            </a:r>
            <a:r>
              <a:rPr sz="3200" dirty="0">
                <a:solidFill>
                  <a:srgbClr val="F7F5CA"/>
                </a:solidFill>
                <a:latin typeface="Calibri"/>
                <a:cs typeface="Calibri"/>
              </a:rPr>
              <a:t>Supervisor</a:t>
            </a:r>
            <a:r>
              <a:rPr sz="3200" spc="-120" dirty="0">
                <a:solidFill>
                  <a:srgbClr val="F7F5CA"/>
                </a:solidFill>
                <a:latin typeface="Calibri"/>
                <a:cs typeface="Calibri"/>
              </a:rPr>
              <a:t> </a:t>
            </a:r>
            <a:r>
              <a:rPr sz="3200" spc="-20" dirty="0">
                <a:solidFill>
                  <a:srgbClr val="F7F5CA"/>
                </a:solidFill>
                <a:latin typeface="Calibri"/>
                <a:cs typeface="Calibri"/>
              </a:rPr>
              <a:t>Name</a:t>
            </a:r>
            <a:endParaRPr sz="3200">
              <a:latin typeface="Calibri"/>
              <a:cs typeface="Calibri"/>
            </a:endParaRPr>
          </a:p>
        </p:txBody>
      </p:sp>
      <p:sp>
        <p:nvSpPr>
          <p:cNvPr id="7" name="object 7" descr="$PPTXTitle"/>
          <p:cNvSpPr txBox="1">
            <a:spLocks noGrp="1"/>
          </p:cNvSpPr>
          <p:nvPr>
            <p:ph type="title"/>
          </p:nvPr>
        </p:nvSpPr>
        <p:spPr>
          <a:xfrm>
            <a:off x="4579482" y="951761"/>
            <a:ext cx="3027045" cy="756285"/>
          </a:xfrm>
          <a:prstGeom prst="rect">
            <a:avLst/>
          </a:prstGeom>
        </p:spPr>
        <p:txBody>
          <a:bodyPr vert="horz" wrap="square" lIns="0" tIns="12065" rIns="0" bIns="0" rtlCol="0">
            <a:spAutoFit/>
          </a:bodyPr>
          <a:lstStyle/>
          <a:p>
            <a:pPr marL="12700">
              <a:lnSpc>
                <a:spcPct val="100000"/>
              </a:lnSpc>
              <a:spcBef>
                <a:spcPts val="95"/>
              </a:spcBef>
            </a:pPr>
            <a:r>
              <a:rPr sz="4800" b="1" dirty="0">
                <a:solidFill>
                  <a:srgbClr val="00C386"/>
                </a:solidFill>
                <a:latin typeface="Calibri"/>
                <a:cs typeface="Calibri"/>
              </a:rPr>
              <a:t>MSc</a:t>
            </a:r>
            <a:r>
              <a:rPr sz="4800" b="1" spc="-90" dirty="0">
                <a:solidFill>
                  <a:srgbClr val="00C386"/>
                </a:solidFill>
                <a:latin typeface="Calibri"/>
                <a:cs typeface="Calibri"/>
              </a:rPr>
              <a:t> </a:t>
            </a:r>
            <a:r>
              <a:rPr sz="4800" b="1" spc="-10" dirty="0">
                <a:solidFill>
                  <a:srgbClr val="00C386"/>
                </a:solidFill>
                <a:latin typeface="Calibri"/>
                <a:cs typeface="Calibri"/>
              </a:rPr>
              <a:t>Project</a:t>
            </a:r>
            <a:endParaRPr sz="4800">
              <a:latin typeface="Calibri"/>
              <a:cs typeface="Calibri"/>
            </a:endParaRPr>
          </a:p>
        </p:txBody>
      </p:sp>
      <p:sp>
        <p:nvSpPr>
          <p:cNvPr id="8" name="object 8"/>
          <p:cNvSpPr txBox="1"/>
          <p:nvPr/>
        </p:nvSpPr>
        <p:spPr>
          <a:xfrm>
            <a:off x="4170333" y="1700280"/>
            <a:ext cx="3844925" cy="727075"/>
          </a:xfrm>
          <a:prstGeom prst="rect">
            <a:avLst/>
          </a:prstGeom>
        </p:spPr>
        <p:txBody>
          <a:bodyPr vert="horz" wrap="square" lIns="0" tIns="12065" rIns="0" bIns="0" rtlCol="0">
            <a:spAutoFit/>
          </a:bodyPr>
          <a:lstStyle/>
          <a:p>
            <a:pPr marL="11430" algn="ctr">
              <a:lnSpc>
                <a:spcPct val="100000"/>
              </a:lnSpc>
              <a:spcBef>
                <a:spcPts val="95"/>
              </a:spcBef>
            </a:pPr>
            <a:r>
              <a:rPr sz="2200" spc="-10" dirty="0">
                <a:solidFill>
                  <a:srgbClr val="00C386"/>
                </a:solidFill>
                <a:latin typeface="Calibri"/>
                <a:cs typeface="Calibri"/>
              </a:rPr>
              <a:t>(CMP060L050S)</a:t>
            </a:r>
            <a:endParaRPr sz="2200">
              <a:latin typeface="Calibri"/>
              <a:cs typeface="Calibri"/>
            </a:endParaRPr>
          </a:p>
          <a:p>
            <a:pPr algn="ctr">
              <a:lnSpc>
                <a:spcPct val="100000"/>
              </a:lnSpc>
              <a:spcBef>
                <a:spcPts val="10"/>
              </a:spcBef>
            </a:pPr>
            <a:r>
              <a:rPr sz="2400" spc="-20" dirty="0">
                <a:solidFill>
                  <a:srgbClr val="F7F5CA"/>
                </a:solidFill>
                <a:latin typeface="Calibri"/>
                <a:cs typeface="Calibri"/>
              </a:rPr>
              <a:t>Mid-</a:t>
            </a:r>
            <a:r>
              <a:rPr sz="2400" dirty="0">
                <a:solidFill>
                  <a:srgbClr val="F7F5CA"/>
                </a:solidFill>
                <a:latin typeface="Calibri"/>
                <a:cs typeface="Calibri"/>
              </a:rPr>
              <a:t>Point</a:t>
            </a:r>
            <a:r>
              <a:rPr sz="2400" spc="-105" dirty="0">
                <a:solidFill>
                  <a:srgbClr val="F7F5CA"/>
                </a:solidFill>
                <a:latin typeface="Calibri"/>
                <a:cs typeface="Calibri"/>
              </a:rPr>
              <a:t> </a:t>
            </a:r>
            <a:r>
              <a:rPr sz="2400" dirty="0">
                <a:solidFill>
                  <a:srgbClr val="F7F5CA"/>
                </a:solidFill>
                <a:latin typeface="Calibri"/>
                <a:cs typeface="Calibri"/>
              </a:rPr>
              <a:t>Review</a:t>
            </a:r>
            <a:r>
              <a:rPr sz="2400" spc="-105" dirty="0">
                <a:solidFill>
                  <a:srgbClr val="F7F5CA"/>
                </a:solidFill>
                <a:latin typeface="Calibri"/>
                <a:cs typeface="Calibri"/>
              </a:rPr>
              <a:t> </a:t>
            </a:r>
            <a:r>
              <a:rPr sz="2400" spc="-10" dirty="0">
                <a:solidFill>
                  <a:srgbClr val="F7F5CA"/>
                </a:solidFill>
                <a:latin typeface="Calibri"/>
                <a:cs typeface="Calibri"/>
              </a:rPr>
              <a:t>Presentation</a:t>
            </a:r>
            <a:endParaRPr sz="240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145" rIns="0" bIns="0" rtlCol="0">
            <a:spAutoFit/>
          </a:bodyPr>
          <a:lstStyle/>
          <a:p>
            <a:pPr marL="1595120">
              <a:lnSpc>
                <a:spcPct val="100000"/>
              </a:lnSpc>
              <a:spcBef>
                <a:spcPts val="135"/>
              </a:spcBef>
            </a:pPr>
            <a:r>
              <a:rPr sz="3200" spc="-10" dirty="0"/>
              <a:t>Outline</a:t>
            </a:r>
            <a:endParaRPr sz="3200"/>
          </a:p>
        </p:txBody>
      </p:sp>
      <p:sp>
        <p:nvSpPr>
          <p:cNvPr id="3" name="object 3"/>
          <p:cNvSpPr txBox="1"/>
          <p:nvPr/>
        </p:nvSpPr>
        <p:spPr>
          <a:xfrm>
            <a:off x="48061" y="625929"/>
            <a:ext cx="4242435" cy="3955415"/>
          </a:xfrm>
          <a:prstGeom prst="rect">
            <a:avLst/>
          </a:prstGeom>
        </p:spPr>
        <p:txBody>
          <a:bodyPr vert="horz" wrap="square" lIns="0" tIns="86360" rIns="0" bIns="0" rtlCol="0">
            <a:spAutoFit/>
          </a:bodyPr>
          <a:lstStyle/>
          <a:p>
            <a:pPr marL="469265" indent="-456565">
              <a:lnSpc>
                <a:spcPct val="100000"/>
              </a:lnSpc>
              <a:spcBef>
                <a:spcPts val="680"/>
              </a:spcBef>
              <a:buClr>
                <a:srgbClr val="B40000"/>
              </a:buClr>
              <a:buSzPct val="75000"/>
              <a:buFont typeface="Lucida Sans Unicode"/>
              <a:buChar char="►"/>
              <a:tabLst>
                <a:tab pos="469265" algn="l"/>
              </a:tabLst>
            </a:pPr>
            <a:r>
              <a:rPr sz="3200" spc="-10" dirty="0">
                <a:latin typeface="Calibri"/>
                <a:cs typeface="Calibri"/>
              </a:rPr>
              <a:t>context</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problematic</a:t>
            </a:r>
            <a:r>
              <a:rPr sz="3200" spc="-140" dirty="0">
                <a:latin typeface="Calibri"/>
                <a:cs typeface="Calibri"/>
              </a:rPr>
              <a:t> </a:t>
            </a:r>
            <a:r>
              <a:rPr sz="3200" spc="-10" dirty="0">
                <a:latin typeface="Calibri"/>
                <a:cs typeface="Calibri"/>
              </a:rPr>
              <a:t>statement</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objectives</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methodology</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dirty="0">
                <a:latin typeface="Calibri"/>
                <a:cs typeface="Calibri"/>
              </a:rPr>
              <a:t>project</a:t>
            </a:r>
            <a:r>
              <a:rPr sz="3200" spc="-90" dirty="0">
                <a:latin typeface="Calibri"/>
                <a:cs typeface="Calibri"/>
              </a:rPr>
              <a:t> </a:t>
            </a:r>
            <a:r>
              <a:rPr sz="3200" spc="-10" dirty="0">
                <a:latin typeface="Calibri"/>
                <a:cs typeface="Calibri"/>
              </a:rPr>
              <a:t>management</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spc="-10" dirty="0">
                <a:latin typeface="Calibri"/>
                <a:cs typeface="Calibri"/>
              </a:rPr>
              <a:t>literature</a:t>
            </a:r>
            <a:r>
              <a:rPr sz="3200" spc="-165" dirty="0">
                <a:latin typeface="Calibri"/>
                <a:cs typeface="Calibri"/>
              </a:rPr>
              <a:t> </a:t>
            </a:r>
            <a:r>
              <a:rPr sz="3200" spc="-10" dirty="0">
                <a:latin typeface="Calibri"/>
                <a:cs typeface="Calibri"/>
              </a:rPr>
              <a:t>review</a:t>
            </a:r>
            <a:endParaRPr sz="3200">
              <a:latin typeface="Calibri"/>
              <a:cs typeface="Calibri"/>
            </a:endParaRPr>
          </a:p>
          <a:p>
            <a:pPr marL="469265" indent="-456565">
              <a:lnSpc>
                <a:spcPct val="100000"/>
              </a:lnSpc>
              <a:spcBef>
                <a:spcPts val="580"/>
              </a:spcBef>
              <a:buClr>
                <a:srgbClr val="B40000"/>
              </a:buClr>
              <a:buSzPct val="75000"/>
              <a:buFont typeface="Lucida Sans Unicode"/>
              <a:buChar char="►"/>
              <a:tabLst>
                <a:tab pos="469265" algn="l"/>
              </a:tabLst>
            </a:pPr>
            <a:r>
              <a:rPr sz="3200" dirty="0">
                <a:latin typeface="Calibri"/>
                <a:cs typeface="Calibri"/>
              </a:rPr>
              <a:t>next</a:t>
            </a:r>
            <a:r>
              <a:rPr sz="3200" spc="-110" dirty="0">
                <a:latin typeface="Calibri"/>
                <a:cs typeface="Calibri"/>
              </a:rPr>
              <a:t> </a:t>
            </a:r>
            <a:r>
              <a:rPr sz="3200" spc="-20" dirty="0">
                <a:latin typeface="Calibri"/>
                <a:cs typeface="Calibri"/>
              </a:rPr>
              <a:t>steps</a:t>
            </a:r>
            <a:endParaRPr sz="3200">
              <a:latin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8061" y="23263"/>
            <a:ext cx="12083178" cy="632866"/>
          </a:xfrm>
          <a:prstGeom prst="rect">
            <a:avLst/>
          </a:prstGeom>
        </p:spPr>
        <p:txBody>
          <a:bodyPr vert="horz" wrap="square" lIns="0" tIns="17145" rIns="0" bIns="0" rtlCol="0">
            <a:spAutoFit/>
          </a:bodyPr>
          <a:lstStyle/>
          <a:p>
            <a:pPr marL="1566545" algn="ctr">
              <a:lnSpc>
                <a:spcPct val="100000"/>
              </a:lnSpc>
              <a:spcBef>
                <a:spcPts val="135"/>
              </a:spcBef>
            </a:pPr>
            <a:r>
              <a:rPr lang="en-US" sz="2000" b="1" spc="-10" dirty="0" err="1"/>
              <a:t>Analysing</a:t>
            </a:r>
            <a:r>
              <a:rPr lang="en-US" sz="2000" b="1" spc="-10" dirty="0"/>
              <a:t> Machine Learning Methods for Predicting Flood Risk Using Historical Rainfall and River Observation Data</a:t>
            </a:r>
            <a:endParaRPr sz="2000" b="1" dirty="0"/>
          </a:p>
        </p:txBody>
      </p:sp>
      <p:sp>
        <p:nvSpPr>
          <p:cNvPr id="3" name="object 3"/>
          <p:cNvSpPr txBox="1"/>
          <p:nvPr/>
        </p:nvSpPr>
        <p:spPr>
          <a:xfrm>
            <a:off x="48060" y="700146"/>
            <a:ext cx="11680389" cy="6095900"/>
          </a:xfrm>
          <a:prstGeom prst="rect">
            <a:avLst/>
          </a:prstGeom>
        </p:spPr>
        <p:txBody>
          <a:bodyPr vert="horz" wrap="square" lIns="0" tIns="12065" rIns="0" bIns="0" rtlCol="0">
            <a:spAutoFit/>
          </a:bodyPr>
          <a:lstStyle/>
          <a:p>
            <a:pPr marL="469265" indent="-456565">
              <a:lnSpc>
                <a:spcPct val="100000"/>
              </a:lnSpc>
              <a:spcBef>
                <a:spcPts val="95"/>
              </a:spcBef>
              <a:buClr>
                <a:srgbClr val="B40000"/>
              </a:buClr>
              <a:buSzPct val="75000"/>
              <a:buFont typeface="Lucida Sans Unicode"/>
              <a:buChar char="►"/>
              <a:tabLst>
                <a:tab pos="469265" algn="l"/>
              </a:tabLst>
            </a:pPr>
            <a:r>
              <a:rPr lang="en-US" sz="2800" dirty="0">
                <a:latin typeface="Calibri"/>
                <a:cs typeface="Calibri"/>
              </a:rPr>
              <a:t>Floods are not the least common and most destructive natural disasters, which lead to severe economic losses, destruction and endangerment of human life on a global scale.</a:t>
            </a:r>
          </a:p>
          <a:p>
            <a:pPr marL="469265" indent="-456565">
              <a:lnSpc>
                <a:spcPct val="100000"/>
              </a:lnSpc>
              <a:spcBef>
                <a:spcPts val="95"/>
              </a:spcBef>
              <a:buClr>
                <a:srgbClr val="B40000"/>
              </a:buClr>
              <a:buSzPct val="75000"/>
              <a:buFont typeface="Lucida Sans Unicode"/>
              <a:buChar char="►"/>
              <a:tabLst>
                <a:tab pos="469265" algn="l"/>
              </a:tabLst>
            </a:pPr>
            <a:r>
              <a:rPr lang="en-US" sz="2800" dirty="0">
                <a:latin typeface="Calibri"/>
                <a:cs typeface="Calibri"/>
              </a:rPr>
              <a:t>Conventional methods of flood prediction also have the difficulty of being unable to capture the complex interrelationships between rainfall, river observations and environmental conditions, which diminishes the accuracy of predictions [7].</a:t>
            </a:r>
          </a:p>
          <a:p>
            <a:pPr marL="469265" indent="-456565">
              <a:lnSpc>
                <a:spcPct val="100000"/>
              </a:lnSpc>
              <a:spcBef>
                <a:spcPts val="95"/>
              </a:spcBef>
              <a:buClr>
                <a:srgbClr val="B40000"/>
              </a:buClr>
              <a:buSzPct val="75000"/>
              <a:buFont typeface="Lucida Sans Unicode"/>
              <a:buChar char="►"/>
              <a:tabLst>
                <a:tab pos="469265" algn="l"/>
              </a:tabLst>
            </a:pPr>
            <a:r>
              <a:rPr lang="en-US" sz="2800" dirty="0">
                <a:latin typeface="Calibri"/>
                <a:cs typeface="Calibri"/>
              </a:rPr>
              <a:t>Recent progress in machine learning opens possibilities to examine historical hydrological observations and detect trends that will enhance the accuracy of flood-risk prediction [8].</a:t>
            </a:r>
          </a:p>
          <a:p>
            <a:pPr marL="469265" indent="-456565">
              <a:lnSpc>
                <a:spcPct val="100000"/>
              </a:lnSpc>
              <a:spcBef>
                <a:spcPts val="95"/>
              </a:spcBef>
              <a:buClr>
                <a:srgbClr val="B40000"/>
              </a:buClr>
              <a:buSzPct val="75000"/>
              <a:buFont typeface="Lucida Sans Unicode"/>
              <a:buChar char="►"/>
              <a:tabLst>
                <a:tab pos="469265" algn="l"/>
              </a:tabLst>
            </a:pPr>
            <a:r>
              <a:rPr lang="en-US" sz="2800" dirty="0">
                <a:latin typeface="Calibri"/>
                <a:cs typeface="Calibri"/>
              </a:rPr>
              <a:t>The project will explore and compare machine learning approaches based on historical data of rainfall and river observation to help more trusted flood-related risk predictions and informed decisions on disaster management.</a:t>
            </a:r>
          </a:p>
          <a:p>
            <a:pPr marL="469265" indent="-456565">
              <a:lnSpc>
                <a:spcPct val="100000"/>
              </a:lnSpc>
              <a:spcBef>
                <a:spcPts val="95"/>
              </a:spcBef>
              <a:buClr>
                <a:srgbClr val="B40000"/>
              </a:buClr>
              <a:buSzPct val="75000"/>
              <a:buFont typeface="Lucida Sans Unicode"/>
              <a:buChar char="►"/>
              <a:tabLst>
                <a:tab pos="469265" algn="l"/>
              </a:tabLst>
            </a:pPr>
            <a:endParaRPr sz="2800" dirty="0">
              <a:latin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7145" rIns="0" bIns="0" rtlCol="0">
            <a:spAutoFit/>
          </a:bodyPr>
          <a:lstStyle/>
          <a:p>
            <a:pPr marL="34925">
              <a:lnSpc>
                <a:spcPct val="100000"/>
              </a:lnSpc>
              <a:spcBef>
                <a:spcPts val="135"/>
              </a:spcBef>
            </a:pPr>
            <a:r>
              <a:rPr sz="3200" dirty="0"/>
              <a:t>Problem</a:t>
            </a:r>
            <a:r>
              <a:rPr sz="3200" spc="-50" dirty="0"/>
              <a:t> </a:t>
            </a:r>
            <a:r>
              <a:rPr sz="3200" dirty="0"/>
              <a:t>Statement</a:t>
            </a:r>
            <a:r>
              <a:rPr sz="3200" spc="-50" dirty="0"/>
              <a:t> </a:t>
            </a:r>
            <a:r>
              <a:rPr sz="3200" dirty="0"/>
              <a:t>-</a:t>
            </a:r>
            <a:r>
              <a:rPr sz="3200" spc="-45" dirty="0"/>
              <a:t> </a:t>
            </a:r>
            <a:r>
              <a:rPr sz="3200" spc="-25" dirty="0"/>
              <a:t>WHY</a:t>
            </a:r>
            <a:endParaRPr sz="3200"/>
          </a:p>
        </p:txBody>
      </p:sp>
      <p:sp>
        <p:nvSpPr>
          <p:cNvPr id="3" name="object 3"/>
          <p:cNvSpPr txBox="1"/>
          <p:nvPr/>
        </p:nvSpPr>
        <p:spPr>
          <a:xfrm>
            <a:off x="48060" y="700147"/>
            <a:ext cx="12131239" cy="6459910"/>
          </a:xfrm>
          <a:prstGeom prst="rect">
            <a:avLst/>
          </a:prstGeom>
        </p:spPr>
        <p:txBody>
          <a:bodyPr vert="horz" wrap="square" lIns="0" tIns="67945" rIns="0" bIns="0" rtlCol="0">
            <a:spAutoFit/>
          </a:bodyPr>
          <a:lstStyle/>
          <a:p>
            <a:r>
              <a:rPr lang="en-US" sz="2400" b="1" dirty="0"/>
              <a:t>Problem</a:t>
            </a:r>
            <a:endParaRPr lang="en-US" sz="2400" dirty="0"/>
          </a:p>
          <a:p>
            <a:r>
              <a:rPr lang="en-US" sz="2400" dirty="0"/>
              <a:t>Traditional flood prediction methods often struggle to accurately model the complex interactions between rainfall, river observations and environmental conditions, resulting in reduced prediction accuracy and delayed flood warnings [9].</a:t>
            </a:r>
          </a:p>
          <a:p>
            <a:r>
              <a:rPr lang="en-US" sz="2400" b="1" dirty="0"/>
              <a:t>Who is affected?</a:t>
            </a:r>
            <a:endParaRPr lang="en-US" sz="2400" dirty="0"/>
          </a:p>
          <a:p>
            <a:pPr marL="285750" lvl="0" indent="-285750">
              <a:buFont typeface="Arial" panose="020B0604020202020204" pitchFamily="34" charset="0"/>
              <a:buChar char="•"/>
            </a:pPr>
            <a:r>
              <a:rPr lang="en-US" sz="2400" dirty="0"/>
              <a:t>Communities living in flood-prone regions </a:t>
            </a:r>
          </a:p>
          <a:p>
            <a:pPr marL="285750" lvl="0" indent="-285750">
              <a:buFont typeface="Arial" panose="020B0604020202020204" pitchFamily="34" charset="0"/>
              <a:buChar char="•"/>
            </a:pPr>
            <a:r>
              <a:rPr lang="en-US" sz="2400" dirty="0"/>
              <a:t>Disaster management authorities </a:t>
            </a:r>
          </a:p>
          <a:p>
            <a:pPr marL="285750" lvl="0" indent="-285750">
              <a:buFont typeface="Arial" panose="020B0604020202020204" pitchFamily="34" charset="0"/>
              <a:buChar char="•"/>
            </a:pPr>
            <a:r>
              <a:rPr lang="en-US" sz="2400" dirty="0"/>
              <a:t>Government agencies and infrastructure planners </a:t>
            </a:r>
          </a:p>
          <a:p>
            <a:r>
              <a:rPr lang="en-US" sz="2400" b="1" dirty="0"/>
              <a:t>Where / When does it occur?</a:t>
            </a:r>
            <a:endParaRPr lang="en-US" sz="2400" dirty="0"/>
          </a:p>
          <a:p>
            <a:pPr marL="285750" lvl="0" indent="-285750">
              <a:buFont typeface="Arial" panose="020B0604020202020204" pitchFamily="34" charset="0"/>
              <a:buChar char="•"/>
            </a:pPr>
            <a:r>
              <a:rPr lang="en-US" sz="2400" dirty="0"/>
              <a:t>River basins and flood-prone catchments </a:t>
            </a:r>
          </a:p>
          <a:p>
            <a:pPr marL="285750" lvl="0" indent="-285750">
              <a:buFont typeface="Arial" panose="020B0604020202020204" pitchFamily="34" charset="0"/>
              <a:buChar char="•"/>
            </a:pPr>
            <a:r>
              <a:rPr lang="en-US" sz="2400" dirty="0"/>
              <a:t>During periods of heavy rainfall, storms and extreme weather events </a:t>
            </a:r>
          </a:p>
          <a:p>
            <a:r>
              <a:rPr lang="en-US" sz="2400" b="1" dirty="0"/>
              <a:t>Why is it important?</a:t>
            </a:r>
            <a:endParaRPr lang="en-US" sz="2400" dirty="0"/>
          </a:p>
          <a:p>
            <a:pPr marL="285750" lvl="0" indent="-285750">
              <a:buFont typeface="Arial" panose="020B0604020202020204" pitchFamily="34" charset="0"/>
              <a:buChar char="•"/>
            </a:pPr>
            <a:r>
              <a:rPr lang="en-US" sz="2400" dirty="0"/>
              <a:t>Improve early flood-risk prediction </a:t>
            </a:r>
          </a:p>
          <a:p>
            <a:pPr marL="285750" lvl="0" indent="-285750">
              <a:buFont typeface="Arial" panose="020B0604020202020204" pitchFamily="34" charset="0"/>
              <a:buChar char="•"/>
            </a:pPr>
            <a:r>
              <a:rPr lang="en-US" sz="2400" dirty="0"/>
              <a:t>Support timely emergency response </a:t>
            </a:r>
          </a:p>
          <a:p>
            <a:pPr marL="285750" lvl="0" indent="-285750">
              <a:buFont typeface="Arial" panose="020B0604020202020204" pitchFamily="34" charset="0"/>
              <a:buChar char="•"/>
            </a:pPr>
            <a:r>
              <a:rPr lang="en-US" sz="2400" dirty="0"/>
              <a:t>Reduce economic losses and infrastructure damage </a:t>
            </a:r>
          </a:p>
          <a:p>
            <a:pPr marL="285750" lvl="0" indent="-285750">
              <a:buFont typeface="Arial" panose="020B0604020202020204" pitchFamily="34" charset="0"/>
              <a:buChar char="•"/>
            </a:pPr>
            <a:r>
              <a:rPr lang="en-US" sz="2400" dirty="0"/>
              <a:t>Enhance public safety and disaster preparedness</a:t>
            </a:r>
          </a:p>
          <a:p>
            <a:pPr marL="12065" marR="1768475">
              <a:lnSpc>
                <a:spcPts val="3450"/>
              </a:lnSpc>
              <a:spcBef>
                <a:spcPts val="535"/>
              </a:spcBef>
              <a:buClr>
                <a:srgbClr val="B40000"/>
              </a:buClr>
              <a:buSzPct val="75000"/>
              <a:tabLst>
                <a:tab pos="469265" algn="l"/>
              </a:tabLst>
            </a:pPr>
            <a:endParaRPr lang="en-US" sz="2400" dirty="0">
              <a:latin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575050" y="76200"/>
            <a:ext cx="5549571" cy="566181"/>
          </a:xfrm>
          <a:prstGeom prst="rect">
            <a:avLst/>
          </a:prstGeom>
        </p:spPr>
        <p:txBody>
          <a:bodyPr vert="horz" wrap="square" lIns="0" tIns="12065" rIns="0" bIns="0" rtlCol="0">
            <a:spAutoFit/>
          </a:bodyPr>
          <a:lstStyle/>
          <a:p>
            <a:pPr marL="12700" algn="ctr">
              <a:lnSpc>
                <a:spcPct val="100000"/>
              </a:lnSpc>
              <a:spcBef>
                <a:spcPts val="95"/>
              </a:spcBef>
            </a:pPr>
            <a:r>
              <a:rPr lang="en-US" dirty="0">
                <a:latin typeface="Arial MT"/>
                <a:cs typeface="Arial MT"/>
              </a:rPr>
              <a:t>Aim and </a:t>
            </a:r>
            <a:r>
              <a:rPr dirty="0">
                <a:latin typeface="Arial MT"/>
                <a:cs typeface="Arial MT"/>
              </a:rPr>
              <a:t>Objective</a:t>
            </a:r>
            <a:r>
              <a:rPr spc="-85" dirty="0">
                <a:latin typeface="Arial MT"/>
                <a:cs typeface="Arial MT"/>
              </a:rPr>
              <a:t> </a:t>
            </a:r>
            <a:r>
              <a:rPr dirty="0">
                <a:latin typeface="Arial MT"/>
                <a:cs typeface="Arial MT"/>
              </a:rPr>
              <a:t>-</a:t>
            </a:r>
            <a:r>
              <a:rPr spc="-80" dirty="0">
                <a:latin typeface="Arial MT"/>
                <a:cs typeface="Arial MT"/>
              </a:rPr>
              <a:t> </a:t>
            </a:r>
            <a:r>
              <a:rPr spc="-30" dirty="0">
                <a:latin typeface="Arial MT"/>
                <a:cs typeface="Arial MT"/>
              </a:rPr>
              <a:t>WHAT</a:t>
            </a:r>
          </a:p>
        </p:txBody>
      </p:sp>
      <p:sp>
        <p:nvSpPr>
          <p:cNvPr id="3" name="object 3"/>
          <p:cNvSpPr txBox="1">
            <a:spLocks noGrp="1"/>
          </p:cNvSpPr>
          <p:nvPr>
            <p:ph type="body" idx="1"/>
          </p:nvPr>
        </p:nvSpPr>
        <p:spPr>
          <a:xfrm>
            <a:off x="298450" y="762000"/>
            <a:ext cx="10972800" cy="6402587"/>
          </a:xfrm>
          <a:prstGeom prst="rect">
            <a:avLst/>
          </a:prstGeom>
        </p:spPr>
        <p:txBody>
          <a:bodyPr vert="horz" wrap="square" lIns="0" tIns="12700" rIns="0" bIns="0" rtlCol="0">
            <a:spAutoFit/>
          </a:bodyPr>
          <a:lstStyle/>
          <a:p>
            <a:pPr marL="12065" marR="257810">
              <a:lnSpc>
                <a:spcPct val="107300"/>
              </a:lnSpc>
              <a:spcBef>
                <a:spcPts val="100"/>
              </a:spcBef>
              <a:buClr>
                <a:srgbClr val="B40000"/>
              </a:buClr>
              <a:buSzPct val="75000"/>
              <a:tabLst>
                <a:tab pos="431165" algn="l"/>
              </a:tabLst>
            </a:pPr>
            <a:r>
              <a:rPr lang="en-US" sz="2400" dirty="0">
                <a:latin typeface="Tahoma"/>
                <a:cs typeface="Tahoma"/>
              </a:rPr>
              <a:t>Aim</a:t>
            </a:r>
          </a:p>
          <a:p>
            <a:pPr marL="12065" marR="257810">
              <a:lnSpc>
                <a:spcPct val="107300"/>
              </a:lnSpc>
              <a:spcBef>
                <a:spcPts val="100"/>
              </a:spcBef>
              <a:buClr>
                <a:srgbClr val="B40000"/>
              </a:buClr>
              <a:buSzPct val="75000"/>
              <a:tabLst>
                <a:tab pos="431165" algn="l"/>
              </a:tabLst>
            </a:pPr>
            <a:r>
              <a:rPr lang="en-US" sz="2400" dirty="0">
                <a:latin typeface="Tahoma"/>
                <a:cs typeface="Tahoma"/>
              </a:rPr>
              <a:t>To </a:t>
            </a:r>
            <a:r>
              <a:rPr lang="en-US" sz="2400" dirty="0" err="1">
                <a:latin typeface="Tahoma"/>
                <a:cs typeface="Tahoma"/>
              </a:rPr>
              <a:t>analyse</a:t>
            </a:r>
            <a:r>
              <a:rPr lang="en-US" sz="2400" dirty="0">
                <a:latin typeface="Tahoma"/>
                <a:cs typeface="Tahoma"/>
              </a:rPr>
              <a:t> and compare machine learning methods for predicting flood risk using historical rainfall and river observation data, to identify the most effective approach for supporting disaster management and environmental forecasting.</a:t>
            </a:r>
          </a:p>
          <a:p>
            <a:pPr marL="12065" marR="257810">
              <a:lnSpc>
                <a:spcPct val="107300"/>
              </a:lnSpc>
              <a:spcBef>
                <a:spcPts val="100"/>
              </a:spcBef>
              <a:buClr>
                <a:srgbClr val="B40000"/>
              </a:buClr>
              <a:buSzPct val="75000"/>
              <a:tabLst>
                <a:tab pos="431165" algn="l"/>
              </a:tabLst>
            </a:pPr>
            <a:r>
              <a:rPr lang="en-US" sz="2400" dirty="0">
                <a:latin typeface="Tahoma"/>
                <a:cs typeface="Tahoma"/>
              </a:rPr>
              <a:t>Objectives</a:t>
            </a:r>
          </a:p>
          <a:p>
            <a:pPr marL="12065" marR="257810">
              <a:lnSpc>
                <a:spcPct val="107300"/>
              </a:lnSpc>
              <a:spcBef>
                <a:spcPts val="100"/>
              </a:spcBef>
              <a:buClr>
                <a:srgbClr val="B40000"/>
              </a:buClr>
              <a:buSzPct val="75000"/>
              <a:tabLst>
                <a:tab pos="431165" algn="l"/>
              </a:tabLst>
            </a:pPr>
            <a:r>
              <a:rPr lang="en-US" sz="2400" dirty="0">
                <a:latin typeface="Tahoma"/>
                <a:cs typeface="Tahoma"/>
              </a:rPr>
              <a:t>1.	Critically examine the role of machine learning-based flood-risk prediction within disaster management and environmental forecasting. </a:t>
            </a:r>
          </a:p>
          <a:p>
            <a:pPr marL="12065" marR="257810">
              <a:lnSpc>
                <a:spcPct val="107300"/>
              </a:lnSpc>
              <a:spcBef>
                <a:spcPts val="100"/>
              </a:spcBef>
              <a:buClr>
                <a:srgbClr val="B40000"/>
              </a:buClr>
              <a:buSzPct val="75000"/>
              <a:tabLst>
                <a:tab pos="431165" algn="l"/>
              </a:tabLst>
            </a:pPr>
            <a:r>
              <a:rPr lang="en-US" sz="2400" dirty="0">
                <a:latin typeface="Tahoma"/>
                <a:cs typeface="Tahoma"/>
              </a:rPr>
              <a:t>2.	</a:t>
            </a:r>
            <a:r>
              <a:rPr lang="en-US" sz="2400" dirty="0" err="1">
                <a:latin typeface="Tahoma"/>
                <a:cs typeface="Tahoma"/>
              </a:rPr>
              <a:t>Analyse</a:t>
            </a:r>
            <a:r>
              <a:rPr lang="en-US" sz="2400" dirty="0">
                <a:latin typeface="Tahoma"/>
                <a:cs typeface="Tahoma"/>
              </a:rPr>
              <a:t> the influence of environmental and hydrological variables on flood occurrence patterns and predictive outcomes. </a:t>
            </a:r>
          </a:p>
          <a:p>
            <a:pPr marL="12065" marR="257810">
              <a:lnSpc>
                <a:spcPct val="107300"/>
              </a:lnSpc>
              <a:spcBef>
                <a:spcPts val="100"/>
              </a:spcBef>
              <a:buClr>
                <a:srgbClr val="B40000"/>
              </a:buClr>
              <a:buSzPct val="75000"/>
              <a:tabLst>
                <a:tab pos="431165" algn="l"/>
              </a:tabLst>
            </a:pPr>
            <a:r>
              <a:rPr lang="en-US" sz="2400" dirty="0">
                <a:latin typeface="Tahoma"/>
                <a:cs typeface="Tahoma"/>
              </a:rPr>
              <a:t>3.	Critically evaluate the challenges affecting accurate flood prediction and the limitations of traditional forecasting approaches. </a:t>
            </a:r>
          </a:p>
          <a:p>
            <a:pPr marL="12065" marR="257810">
              <a:lnSpc>
                <a:spcPct val="107300"/>
              </a:lnSpc>
              <a:spcBef>
                <a:spcPts val="100"/>
              </a:spcBef>
              <a:buClr>
                <a:srgbClr val="B40000"/>
              </a:buClr>
              <a:buSzPct val="75000"/>
              <a:tabLst>
                <a:tab pos="431165" algn="l"/>
              </a:tabLst>
            </a:pPr>
            <a:r>
              <a:rPr lang="en-US" sz="2400" dirty="0">
                <a:latin typeface="Tahoma"/>
                <a:cs typeface="Tahoma"/>
              </a:rPr>
              <a:t>4.	Develop and compare selected machine learning methods using consistent preprocessing, validation and evaluation procedures. </a:t>
            </a:r>
          </a:p>
          <a:p>
            <a:pPr marL="12065" marR="257810">
              <a:lnSpc>
                <a:spcPct val="107300"/>
              </a:lnSpc>
              <a:spcBef>
                <a:spcPts val="100"/>
              </a:spcBef>
              <a:buClr>
                <a:srgbClr val="B40000"/>
              </a:buClr>
              <a:buSzPct val="75000"/>
              <a:tabLst>
                <a:tab pos="431165" algn="l"/>
              </a:tabLst>
            </a:pPr>
            <a:r>
              <a:rPr lang="en-US" sz="2400" dirty="0">
                <a:latin typeface="Tahoma"/>
                <a:cs typeface="Tahoma"/>
              </a:rPr>
              <a:t>5.	Provide evidence-based recommendations for improving future flood-risk prediction systems.</a:t>
            </a:r>
          </a:p>
          <a:p>
            <a:pPr marL="12065" marR="257810">
              <a:lnSpc>
                <a:spcPct val="107300"/>
              </a:lnSpc>
              <a:spcBef>
                <a:spcPts val="100"/>
              </a:spcBef>
              <a:buClr>
                <a:srgbClr val="B40000"/>
              </a:buClr>
              <a:buSzPct val="75000"/>
              <a:tabLst>
                <a:tab pos="431165" algn="l"/>
              </a:tabLst>
            </a:pPr>
            <a:endParaRPr sz="2400" dirty="0">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00990">
              <a:lnSpc>
                <a:spcPct val="100000"/>
              </a:lnSpc>
              <a:spcBef>
                <a:spcPts val="95"/>
              </a:spcBef>
            </a:pPr>
            <a:r>
              <a:rPr spc="-10" dirty="0"/>
              <a:t>Methodology</a:t>
            </a:r>
            <a:r>
              <a:rPr spc="-55" dirty="0"/>
              <a:t> </a:t>
            </a:r>
            <a:r>
              <a:rPr dirty="0"/>
              <a:t>-</a:t>
            </a:r>
            <a:r>
              <a:rPr spc="-50" dirty="0"/>
              <a:t> </a:t>
            </a:r>
            <a:r>
              <a:rPr spc="-25" dirty="0"/>
              <a:t>HOW</a:t>
            </a:r>
          </a:p>
        </p:txBody>
      </p:sp>
      <p:sp>
        <p:nvSpPr>
          <p:cNvPr id="3" name="object 3"/>
          <p:cNvSpPr txBox="1"/>
          <p:nvPr/>
        </p:nvSpPr>
        <p:spPr>
          <a:xfrm>
            <a:off x="48061" y="702050"/>
            <a:ext cx="11832789" cy="4814138"/>
          </a:xfrm>
          <a:prstGeom prst="rect">
            <a:avLst/>
          </a:prstGeom>
        </p:spPr>
        <p:txBody>
          <a:bodyPr vert="horz" wrap="square" lIns="0" tIns="12700" rIns="0" bIns="0" rtlCol="0">
            <a:spAutoFit/>
          </a:bodyPr>
          <a:lstStyle/>
          <a:p>
            <a:r>
              <a:rPr lang="en-US" sz="2400" b="1" dirty="0"/>
              <a:t>Research Approach</a:t>
            </a:r>
            <a:endParaRPr lang="en-US" sz="2400" dirty="0"/>
          </a:p>
          <a:p>
            <a:pPr marL="342900" lvl="0" indent="-342900">
              <a:buFont typeface="Arial" panose="020B0604020202020204" pitchFamily="34" charset="0"/>
              <a:buChar char="•"/>
            </a:pPr>
            <a:r>
              <a:rPr lang="en-US" sz="2400" dirty="0"/>
              <a:t>Quantitative, experimental research </a:t>
            </a:r>
          </a:p>
          <a:p>
            <a:pPr marL="342900" lvl="0" indent="-342900">
              <a:buFont typeface="Arial" panose="020B0604020202020204" pitchFamily="34" charset="0"/>
              <a:buChar char="•"/>
            </a:pPr>
            <a:r>
              <a:rPr lang="en-US" sz="2400" dirty="0"/>
              <a:t>Secondary historical flood dataset (rainfall and river observations)</a:t>
            </a:r>
          </a:p>
          <a:p>
            <a:r>
              <a:rPr lang="en-US" sz="2400" b="1" dirty="0"/>
              <a:t>Tools Used</a:t>
            </a:r>
            <a:endParaRPr lang="en-US" sz="2400" dirty="0"/>
          </a:p>
          <a:p>
            <a:pPr marL="342900" lvl="0" indent="-342900">
              <a:buFont typeface="Arial" panose="020B0604020202020204" pitchFamily="34" charset="0"/>
              <a:buChar char="•"/>
            </a:pPr>
            <a:r>
              <a:rPr lang="en-US" sz="2400" dirty="0"/>
              <a:t>Google </a:t>
            </a:r>
            <a:r>
              <a:rPr lang="en-US" sz="2400" dirty="0" err="1"/>
              <a:t>Colab</a:t>
            </a:r>
            <a:r>
              <a:rPr lang="en-US" sz="2400" dirty="0"/>
              <a:t> </a:t>
            </a:r>
          </a:p>
          <a:p>
            <a:pPr marL="342900" lvl="0" indent="-342900">
              <a:buFont typeface="Arial" panose="020B0604020202020204" pitchFamily="34" charset="0"/>
              <a:buChar char="•"/>
            </a:pPr>
            <a:r>
              <a:rPr lang="en-US" sz="2400" dirty="0"/>
              <a:t>Python </a:t>
            </a:r>
          </a:p>
          <a:p>
            <a:pPr marL="342900" lvl="0" indent="-342900">
              <a:buFont typeface="Arial" panose="020B0604020202020204" pitchFamily="34" charset="0"/>
              <a:buChar char="•"/>
            </a:pPr>
            <a:r>
              <a:rPr lang="en-US" sz="2400" dirty="0"/>
              <a:t>Pandas &amp; NumPy </a:t>
            </a:r>
          </a:p>
          <a:p>
            <a:pPr marL="342900" lvl="0" indent="-342900">
              <a:buFont typeface="Arial" panose="020B0604020202020204" pitchFamily="34" charset="0"/>
              <a:buChar char="•"/>
            </a:pPr>
            <a:r>
              <a:rPr lang="en-US" sz="2400" dirty="0"/>
              <a:t>Matplotlib </a:t>
            </a:r>
          </a:p>
          <a:p>
            <a:pPr marL="342900" lvl="0" indent="-342900">
              <a:buFont typeface="Arial" panose="020B0604020202020204" pitchFamily="34" charset="0"/>
              <a:buChar char="•"/>
            </a:pPr>
            <a:r>
              <a:rPr lang="en-US" sz="2400" dirty="0"/>
              <a:t>Scikit-learn </a:t>
            </a:r>
          </a:p>
          <a:p>
            <a:r>
              <a:rPr lang="en-US" sz="2400" b="1" dirty="0"/>
              <a:t>Why These Methods?</a:t>
            </a:r>
            <a:endParaRPr lang="en-US" sz="2400" dirty="0"/>
          </a:p>
          <a:p>
            <a:pPr lvl="0"/>
            <a:r>
              <a:rPr lang="en-US" sz="2400" dirty="0"/>
              <a:t>Suitable for structured historical flood data. </a:t>
            </a:r>
          </a:p>
          <a:p>
            <a:pPr lvl="0"/>
            <a:r>
              <a:rPr lang="en-US" sz="2400" dirty="0"/>
              <a:t>Enable fair comparison using consistent preprocessing and evaluation. </a:t>
            </a:r>
          </a:p>
          <a:p>
            <a:pPr lvl="0"/>
            <a:r>
              <a:rPr lang="en-US" sz="2400" dirty="0"/>
              <a:t>Provide reproducible and efficient model development.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131153" y="-3379"/>
            <a:ext cx="3927475" cy="574040"/>
          </a:xfrm>
          <a:prstGeom prst="rect">
            <a:avLst/>
          </a:prstGeom>
        </p:spPr>
        <p:txBody>
          <a:bodyPr vert="horz" wrap="square" lIns="0" tIns="12065" rIns="0" bIns="0" rtlCol="0">
            <a:spAutoFit/>
          </a:bodyPr>
          <a:lstStyle/>
          <a:p>
            <a:pPr marL="12700">
              <a:lnSpc>
                <a:spcPct val="100000"/>
              </a:lnSpc>
              <a:spcBef>
                <a:spcPts val="95"/>
              </a:spcBef>
            </a:pPr>
            <a:r>
              <a:rPr dirty="0"/>
              <a:t>Project</a:t>
            </a:r>
            <a:r>
              <a:rPr spc="-150" dirty="0"/>
              <a:t> </a:t>
            </a:r>
            <a:r>
              <a:rPr spc="-10" dirty="0"/>
              <a:t>Management</a:t>
            </a:r>
          </a:p>
        </p:txBody>
      </p:sp>
      <p:sp>
        <p:nvSpPr>
          <p:cNvPr id="3" name="object 3"/>
          <p:cNvSpPr txBox="1"/>
          <p:nvPr/>
        </p:nvSpPr>
        <p:spPr>
          <a:xfrm>
            <a:off x="48061" y="508396"/>
            <a:ext cx="8284845" cy="5507277"/>
          </a:xfrm>
          <a:prstGeom prst="rect">
            <a:avLst/>
          </a:prstGeom>
        </p:spPr>
        <p:txBody>
          <a:bodyPr vert="horz" wrap="square" lIns="0" tIns="241935" rIns="0" bIns="0" rtlCol="0">
            <a:spAutoFit/>
          </a:bodyPr>
          <a:lstStyle/>
          <a:p>
            <a:r>
              <a:rPr lang="en-US" sz="1800" b="1" dirty="0"/>
              <a:t>Project Management Approach</a:t>
            </a:r>
            <a:endParaRPr lang="en-US" sz="1800" dirty="0"/>
          </a:p>
          <a:p>
            <a:pPr marL="285750" lvl="0" indent="-285750">
              <a:buFont typeface="Arial" panose="020B0604020202020204" pitchFamily="34" charset="0"/>
              <a:buChar char="•"/>
            </a:pPr>
            <a:r>
              <a:rPr lang="en-US" sz="1800" dirty="0"/>
              <a:t>Agile-inspired project planning with milestone-based progress. </a:t>
            </a:r>
          </a:p>
          <a:p>
            <a:pPr marL="285750" lvl="0" indent="-285750">
              <a:buFont typeface="Arial" panose="020B0604020202020204" pitchFamily="34" charset="0"/>
              <a:buChar char="•"/>
            </a:pPr>
            <a:r>
              <a:rPr lang="en-US" sz="1800" dirty="0"/>
              <a:t>Activities </a:t>
            </a:r>
            <a:r>
              <a:rPr lang="en-US" sz="1800" dirty="0" err="1"/>
              <a:t>organised</a:t>
            </a:r>
            <a:r>
              <a:rPr lang="en-US" sz="1800" dirty="0"/>
              <a:t> into sequential implementation phases. </a:t>
            </a:r>
          </a:p>
          <a:p>
            <a:pPr marL="285750" lvl="0" indent="-285750">
              <a:buFont typeface="Arial" panose="020B0604020202020204" pitchFamily="34" charset="0"/>
              <a:buChar char="•"/>
            </a:pPr>
            <a:r>
              <a:rPr lang="en-US" sz="1800" dirty="0"/>
              <a:t>Progress is monitored using a Gantt chart to ensure timely completion of the dissertation.</a:t>
            </a:r>
          </a:p>
          <a:p>
            <a:r>
              <a:rPr lang="en-US" sz="1800" b="1" dirty="0"/>
              <a:t>Current Progress</a:t>
            </a:r>
            <a:endParaRPr lang="en-US" sz="1800" dirty="0"/>
          </a:p>
          <a:p>
            <a:r>
              <a:rPr lang="en-US" sz="1800" dirty="0"/>
              <a:t>Use a simple progress indicator:</a:t>
            </a:r>
          </a:p>
          <a:p>
            <a:r>
              <a:rPr lang="en-US" sz="1800" b="1" dirty="0"/>
              <a:t>Completed</a:t>
            </a:r>
            <a:endParaRPr lang="en-US" sz="1800" dirty="0"/>
          </a:p>
          <a:p>
            <a:pPr marL="285750" lvl="0" indent="-285750">
              <a:buFont typeface="Arial" panose="020B0604020202020204" pitchFamily="34" charset="0"/>
              <a:buChar char="•"/>
            </a:pPr>
            <a:r>
              <a:rPr lang="en-US" sz="1800" dirty="0"/>
              <a:t> Proposal approved </a:t>
            </a:r>
          </a:p>
          <a:p>
            <a:pPr marL="285750" lvl="0" indent="-285750">
              <a:buFont typeface="Arial" panose="020B0604020202020204" pitchFamily="34" charset="0"/>
              <a:buChar char="•"/>
            </a:pPr>
            <a:r>
              <a:rPr lang="en-US" sz="1800" dirty="0"/>
              <a:t> Literature review completed </a:t>
            </a:r>
          </a:p>
          <a:p>
            <a:pPr marL="285750" lvl="0" indent="-285750">
              <a:buFont typeface="Arial" panose="020B0604020202020204" pitchFamily="34" charset="0"/>
              <a:buChar char="•"/>
            </a:pPr>
            <a:r>
              <a:rPr lang="en-US" sz="1800" dirty="0"/>
              <a:t> Technology review completed </a:t>
            </a:r>
          </a:p>
          <a:p>
            <a:pPr marL="285750" lvl="0" indent="-285750">
              <a:buFont typeface="Arial" panose="020B0604020202020204" pitchFamily="34" charset="0"/>
              <a:buChar char="•"/>
            </a:pPr>
            <a:r>
              <a:rPr lang="en-US" sz="1800" dirty="0"/>
              <a:t> Dataset selected </a:t>
            </a:r>
          </a:p>
          <a:p>
            <a:r>
              <a:rPr lang="en-US" sz="1800" b="1" dirty="0"/>
              <a:t>In Progress</a:t>
            </a:r>
            <a:endParaRPr lang="en-US" sz="1800" dirty="0"/>
          </a:p>
          <a:p>
            <a:pPr marL="285750" lvl="0" indent="-285750">
              <a:buFont typeface="Arial" panose="020B0604020202020204" pitchFamily="34" charset="0"/>
              <a:buChar char="•"/>
            </a:pPr>
            <a:r>
              <a:rPr lang="en-US" sz="1800" dirty="0"/>
              <a:t>Data preprocessing </a:t>
            </a:r>
          </a:p>
          <a:p>
            <a:pPr marL="285750" lvl="0" indent="-285750">
              <a:buFont typeface="Arial" panose="020B0604020202020204" pitchFamily="34" charset="0"/>
              <a:buChar char="•"/>
            </a:pPr>
            <a:r>
              <a:rPr lang="en-US" sz="1800" dirty="0"/>
              <a:t>Model implementation </a:t>
            </a:r>
          </a:p>
          <a:p>
            <a:r>
              <a:rPr lang="en-US" sz="1800" b="1" dirty="0"/>
              <a:t>Remaining</a:t>
            </a:r>
            <a:endParaRPr lang="en-US" sz="1800" dirty="0"/>
          </a:p>
          <a:p>
            <a:pPr marL="285750" lvl="0" indent="-285750">
              <a:buFont typeface="Arial" panose="020B0604020202020204" pitchFamily="34" charset="0"/>
              <a:buChar char="•"/>
            </a:pPr>
            <a:r>
              <a:rPr lang="en-US" sz="1800" dirty="0"/>
              <a:t>Model evaluation </a:t>
            </a:r>
          </a:p>
          <a:p>
            <a:pPr marL="285750" lvl="0" indent="-285750">
              <a:buFont typeface="Arial" panose="020B0604020202020204" pitchFamily="34" charset="0"/>
              <a:buChar char="•"/>
            </a:pPr>
            <a:r>
              <a:rPr lang="en-US" sz="1800" dirty="0"/>
              <a:t> Results and discussion </a:t>
            </a:r>
          </a:p>
          <a:p>
            <a:pPr marL="285750" lvl="0" indent="-285750">
              <a:buFont typeface="Arial" panose="020B0604020202020204" pitchFamily="34" charset="0"/>
              <a:buChar char="•"/>
            </a:pPr>
            <a:r>
              <a:rPr lang="en-US" sz="1800" dirty="0"/>
              <a:t> Final dissertation submission </a:t>
            </a:r>
          </a:p>
        </p:txBody>
      </p:sp>
      <p:pic>
        <p:nvPicPr>
          <p:cNvPr id="4" name="Picture 3">
            <a:extLst>
              <a:ext uri="{FF2B5EF4-FFF2-40B4-BE49-F238E27FC236}">
                <a16:creationId xmlns:a16="http://schemas.microsoft.com/office/drawing/2014/main" id="{C0AEB230-9FE5-2F02-A6CF-FA77F6BA8683}"/>
              </a:ext>
            </a:extLst>
          </p:cNvPr>
          <p:cNvPicPr>
            <a:picLocks noChangeAspect="1"/>
          </p:cNvPicPr>
          <p:nvPr/>
        </p:nvPicPr>
        <p:blipFill>
          <a:blip r:embed="rId3"/>
          <a:stretch>
            <a:fillRect/>
          </a:stretch>
        </p:blipFill>
        <p:spPr>
          <a:xfrm>
            <a:off x="4262783" y="2590800"/>
            <a:ext cx="7643884" cy="33528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596265">
              <a:lnSpc>
                <a:spcPct val="100000"/>
              </a:lnSpc>
              <a:spcBef>
                <a:spcPts val="95"/>
              </a:spcBef>
            </a:pPr>
            <a:r>
              <a:rPr spc="-10" dirty="0"/>
              <a:t>Literature</a:t>
            </a:r>
            <a:r>
              <a:rPr spc="-150" dirty="0"/>
              <a:t> </a:t>
            </a:r>
            <a:r>
              <a:rPr spc="-10" dirty="0"/>
              <a:t>Review</a:t>
            </a:r>
          </a:p>
        </p:txBody>
      </p:sp>
      <p:graphicFrame>
        <p:nvGraphicFramePr>
          <p:cNvPr id="4" name="Table 3">
            <a:extLst>
              <a:ext uri="{FF2B5EF4-FFF2-40B4-BE49-F238E27FC236}">
                <a16:creationId xmlns:a16="http://schemas.microsoft.com/office/drawing/2014/main" id="{53BDFE90-BF87-0463-7FCE-38B576A56DE5}"/>
              </a:ext>
            </a:extLst>
          </p:cNvPr>
          <p:cNvGraphicFramePr>
            <a:graphicFrameLocks noGrp="1"/>
          </p:cNvGraphicFramePr>
          <p:nvPr>
            <p:extLst>
              <p:ext uri="{D42A27DB-BD31-4B8C-83A1-F6EECF244321}">
                <p14:modId xmlns:p14="http://schemas.microsoft.com/office/powerpoint/2010/main" val="2616398315"/>
              </p:ext>
            </p:extLst>
          </p:nvPr>
        </p:nvGraphicFramePr>
        <p:xfrm>
          <a:off x="297016" y="699959"/>
          <a:ext cx="11126634" cy="3491039"/>
        </p:xfrm>
        <a:graphic>
          <a:graphicData uri="http://schemas.openxmlformats.org/drawingml/2006/table">
            <a:tbl>
              <a:tblPr firstRow="1" firstCol="1" bandRow="1">
                <a:tableStyleId>{5C22544A-7EE6-4342-B048-85BDC9FD1C3A}</a:tableStyleId>
              </a:tblPr>
              <a:tblGrid>
                <a:gridCol w="2006610">
                  <a:extLst>
                    <a:ext uri="{9D8B030D-6E8A-4147-A177-3AD203B41FA5}">
                      <a16:colId xmlns:a16="http://schemas.microsoft.com/office/drawing/2014/main" val="83572662"/>
                    </a:ext>
                  </a:extLst>
                </a:gridCol>
                <a:gridCol w="4560012">
                  <a:extLst>
                    <a:ext uri="{9D8B030D-6E8A-4147-A177-3AD203B41FA5}">
                      <a16:colId xmlns:a16="http://schemas.microsoft.com/office/drawing/2014/main" val="4102597336"/>
                    </a:ext>
                  </a:extLst>
                </a:gridCol>
                <a:gridCol w="4560012">
                  <a:extLst>
                    <a:ext uri="{9D8B030D-6E8A-4147-A177-3AD203B41FA5}">
                      <a16:colId xmlns:a16="http://schemas.microsoft.com/office/drawing/2014/main" val="2159739449"/>
                    </a:ext>
                  </a:extLst>
                </a:gridCol>
              </a:tblGrid>
              <a:tr h="255039">
                <a:tc>
                  <a:txBody>
                    <a:bodyPr/>
                    <a:lstStyle/>
                    <a:p>
                      <a:pPr marL="0" marR="0" algn="just">
                        <a:lnSpc>
                          <a:spcPct val="150000"/>
                        </a:lnSpc>
                        <a:spcAft>
                          <a:spcPts val="1000"/>
                        </a:spcAft>
                        <a:buNone/>
                      </a:pPr>
                      <a:r>
                        <a:rPr lang="en-US" sz="1200" kern="100">
                          <a:effectLst/>
                        </a:rPr>
                        <a:t>Study</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dirty="0">
                          <a:effectLst/>
                        </a:rPr>
                        <a:t>Method</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dirty="0">
                          <a:effectLst/>
                        </a:rPr>
                        <a:t>Key Finding</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7147422"/>
                  </a:ext>
                </a:extLst>
              </a:tr>
              <a:tr h="540545">
                <a:tc>
                  <a:txBody>
                    <a:bodyPr/>
                    <a:lstStyle/>
                    <a:p>
                      <a:pPr marL="0" marR="0" algn="just">
                        <a:lnSpc>
                          <a:spcPct val="150000"/>
                        </a:lnSpc>
                        <a:spcAft>
                          <a:spcPts val="1000"/>
                        </a:spcAft>
                        <a:buNone/>
                      </a:pPr>
                      <a:r>
                        <a:rPr lang="en-US" sz="1200" b="1" kern="100" dirty="0">
                          <a:effectLst/>
                        </a:rPr>
                        <a:t>[1] Islam</a:t>
                      </a:r>
                      <a:r>
                        <a:rPr lang="en-US" sz="1200" kern="100" dirty="0">
                          <a:effectLst/>
                        </a:rPr>
                        <a:t> et al. (2025)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dirty="0">
                          <a:effectLst/>
                        </a:rPr>
                        <a:t>Systematic Review</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a:effectLst/>
                        </a:rPr>
                        <a:t>Machine learning is increasingly adopted for flood-risk analysis.</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31625539"/>
                  </a:ext>
                </a:extLst>
              </a:tr>
              <a:tr h="540545">
                <a:tc>
                  <a:txBody>
                    <a:bodyPr/>
                    <a:lstStyle/>
                    <a:p>
                      <a:pPr marL="0" marR="0" algn="just">
                        <a:lnSpc>
                          <a:spcPct val="150000"/>
                        </a:lnSpc>
                        <a:spcAft>
                          <a:spcPts val="1000"/>
                        </a:spcAft>
                        <a:buNone/>
                      </a:pPr>
                      <a:r>
                        <a:rPr lang="en-US" sz="1200" kern="100" dirty="0">
                          <a:effectLst/>
                        </a:rPr>
                        <a:t>[2] Oddo et al. (2024)</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a:effectLst/>
                        </a:rPr>
                        <a:t>Deep ConvLSTM</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dirty="0">
                          <a:effectLst/>
                        </a:rPr>
                        <a:t>Deep learning improves temporal flood prediction accuracy.</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23538354"/>
                  </a:ext>
                </a:extLst>
              </a:tr>
              <a:tr h="536910">
                <a:tc>
                  <a:txBody>
                    <a:bodyPr/>
                    <a:lstStyle/>
                    <a:p>
                      <a:pPr marL="0" marR="0" algn="just">
                        <a:lnSpc>
                          <a:spcPct val="150000"/>
                        </a:lnSpc>
                        <a:spcAft>
                          <a:spcPts val="1000"/>
                        </a:spcAft>
                        <a:buNone/>
                      </a:pPr>
                      <a:r>
                        <a:rPr lang="en-US" sz="1200" kern="100" dirty="0">
                          <a:effectLst/>
                        </a:rPr>
                        <a:t>[3] McEachran et al. (2025)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a:effectLst/>
                        </a:rPr>
                        <a:t>Knowledge-guided ML</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a:effectLst/>
                        </a:rPr>
                        <a:t>Hybrid approaches improve operational flood forecasting.</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9665379"/>
                  </a:ext>
                </a:extLst>
              </a:tr>
              <a:tr h="540545">
                <a:tc>
                  <a:txBody>
                    <a:bodyPr/>
                    <a:lstStyle/>
                    <a:p>
                      <a:pPr marL="0" marR="0" algn="just">
                        <a:lnSpc>
                          <a:spcPct val="150000"/>
                        </a:lnSpc>
                        <a:spcAft>
                          <a:spcPts val="1000"/>
                        </a:spcAft>
                        <a:buNone/>
                      </a:pPr>
                      <a:r>
                        <a:rPr lang="en-US" sz="1200" kern="100" dirty="0">
                          <a:effectLst/>
                        </a:rPr>
                        <a:t>[4] Ren et al. (2024)</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a:effectLst/>
                        </a:rPr>
                        <a:t>RF &amp; XGBoost</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a:effectLst/>
                        </a:rPr>
                        <a:t>Ensemble models outperform many conventional methods.</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58856997"/>
                  </a:ext>
                </a:extLst>
              </a:tr>
              <a:tr h="536910">
                <a:tc>
                  <a:txBody>
                    <a:bodyPr/>
                    <a:lstStyle/>
                    <a:p>
                      <a:pPr marL="0" marR="0" algn="just">
                        <a:lnSpc>
                          <a:spcPct val="150000"/>
                        </a:lnSpc>
                        <a:spcAft>
                          <a:spcPts val="1000"/>
                        </a:spcAft>
                        <a:buNone/>
                      </a:pPr>
                      <a:r>
                        <a:rPr lang="en-US" sz="1200" kern="100" dirty="0">
                          <a:effectLst/>
                        </a:rPr>
                        <a:t>[5] Hajji et al. (2025)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dirty="0">
                          <a:effectLst/>
                        </a:rPr>
                        <a:t>ML + Remote Sensing</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a:effectLst/>
                        </a:rPr>
                        <a:t>Combining multiple data sources enhances prediction.</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8615597"/>
                  </a:ext>
                </a:extLst>
              </a:tr>
              <a:tr h="540545">
                <a:tc>
                  <a:txBody>
                    <a:bodyPr/>
                    <a:lstStyle/>
                    <a:p>
                      <a:pPr marL="0" marR="0" algn="just">
                        <a:lnSpc>
                          <a:spcPct val="150000"/>
                        </a:lnSpc>
                        <a:spcAft>
                          <a:spcPts val="1000"/>
                        </a:spcAft>
                        <a:buNone/>
                      </a:pPr>
                      <a:r>
                        <a:rPr lang="en-US" sz="1200" kern="100" dirty="0">
                          <a:effectLst/>
                        </a:rPr>
                        <a:t>[6] Zhang et al. (2025)</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a:effectLst/>
                        </a:rPr>
                        <a:t>Data Sampling</a:t>
                      </a:r>
                      <a:endParaRPr lang="en-US" sz="1200" kern="1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gn="just">
                        <a:lnSpc>
                          <a:spcPct val="150000"/>
                        </a:lnSpc>
                        <a:spcAft>
                          <a:spcPts val="1000"/>
                        </a:spcAft>
                        <a:buNone/>
                      </a:pPr>
                      <a:r>
                        <a:rPr lang="en-US" sz="1200" kern="100" dirty="0">
                          <a:effectLst/>
                        </a:rPr>
                        <a:t>Data quality and sampling significantly influence model performance.</a:t>
                      </a:r>
                      <a:endParaRPr lang="en-US" sz="12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9741472"/>
                  </a:ext>
                </a:extLst>
              </a:tr>
            </a:tbl>
          </a:graphicData>
        </a:graphic>
      </p:graphicFrame>
      <p:sp>
        <p:nvSpPr>
          <p:cNvPr id="6" name="TextBox 5">
            <a:extLst>
              <a:ext uri="{FF2B5EF4-FFF2-40B4-BE49-F238E27FC236}">
                <a16:creationId xmlns:a16="http://schemas.microsoft.com/office/drawing/2014/main" id="{3EE5598C-3269-09E7-A9F5-1C47012308CF}"/>
              </a:ext>
            </a:extLst>
          </p:cNvPr>
          <p:cNvSpPr txBox="1"/>
          <p:nvPr/>
        </p:nvSpPr>
        <p:spPr>
          <a:xfrm>
            <a:off x="174113" y="4343400"/>
            <a:ext cx="7164234" cy="2295052"/>
          </a:xfrm>
          <a:prstGeom prst="rect">
            <a:avLst/>
          </a:prstGeom>
          <a:noFill/>
        </p:spPr>
        <p:txBody>
          <a:bodyPr wrap="square">
            <a:spAutoFit/>
          </a:bodyPr>
          <a:lstStyle/>
          <a:p>
            <a:pPr marL="0" marR="0" algn="just">
              <a:lnSpc>
                <a:spcPct val="150000"/>
              </a:lnSpc>
              <a:spcAft>
                <a:spcPts val="1000"/>
              </a:spcAft>
              <a:buNone/>
            </a:pPr>
            <a:r>
              <a:rPr lang="en-US" sz="1500" b="1" kern="100" dirty="0">
                <a:effectLst/>
                <a:latin typeface="Times New Roman" panose="02020603050405020304" pitchFamily="18" charset="0"/>
                <a:ea typeface="Calibri" panose="020F0502020204030204" pitchFamily="34" charset="0"/>
                <a:cs typeface="Times New Roman" panose="02020603050405020304" pitchFamily="18" charset="0"/>
              </a:rPr>
              <a:t>Key Findings</a:t>
            </a:r>
            <a:endParaRPr lang="en-US" sz="1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50000"/>
              </a:lnSpc>
              <a:spcAft>
                <a:spcPts val="10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Machine learning consistently outperforms many traditional flood prediction methods. </a:t>
            </a:r>
          </a:p>
          <a:p>
            <a:pPr marL="342900" marR="0" lvl="0" indent="-342900" algn="just">
              <a:lnSpc>
                <a:spcPct val="150000"/>
              </a:lnSpc>
              <a:spcAft>
                <a:spcPts val="10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Model performance depends on dataset quality and predictor selection. </a:t>
            </a:r>
          </a:p>
          <a:p>
            <a:pPr marL="342900" marR="0" lvl="0" indent="-342900" algn="just">
              <a:lnSpc>
                <a:spcPct val="150000"/>
              </a:lnSpc>
              <a:spcAft>
                <a:spcPts val="10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No single algorithm performs best across all geographical contexts. </a:t>
            </a:r>
          </a:p>
          <a:p>
            <a:pPr marL="342900" marR="0" lvl="0" indent="-342900" algn="just">
              <a:lnSpc>
                <a:spcPct val="150000"/>
              </a:lnSpc>
              <a:spcAft>
                <a:spcPts val="1000"/>
              </a:spcAft>
              <a:buSzPts val="1000"/>
              <a:buFont typeface="Symbol" panose="05050102010706020507" pitchFamily="18" charset="2"/>
              <a:buChar char=""/>
              <a:tabLst>
                <a:tab pos="457200" algn="l"/>
              </a:tabLst>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A fair comparison of machine learning models using the same dataset is still limited. </a:t>
            </a:r>
          </a:p>
        </p:txBody>
      </p:sp>
      <p:sp>
        <p:nvSpPr>
          <p:cNvPr id="8" name="TextBox 7">
            <a:extLst>
              <a:ext uri="{FF2B5EF4-FFF2-40B4-BE49-F238E27FC236}">
                <a16:creationId xmlns:a16="http://schemas.microsoft.com/office/drawing/2014/main" id="{E006EBC7-5A5E-98CE-6964-AB1BDDAC0208}"/>
              </a:ext>
            </a:extLst>
          </p:cNvPr>
          <p:cNvSpPr txBox="1"/>
          <p:nvPr/>
        </p:nvSpPr>
        <p:spPr>
          <a:xfrm>
            <a:off x="7385050" y="4267200"/>
            <a:ext cx="4648200" cy="2602828"/>
          </a:xfrm>
          <a:prstGeom prst="rect">
            <a:avLst/>
          </a:prstGeom>
          <a:noFill/>
        </p:spPr>
        <p:txBody>
          <a:bodyPr wrap="square">
            <a:spAutoFit/>
          </a:bodyPr>
          <a:lstStyle/>
          <a:p>
            <a:pPr marL="0" marR="0" algn="just">
              <a:lnSpc>
                <a:spcPct val="150000"/>
              </a:lnSpc>
              <a:spcAft>
                <a:spcPts val="1000"/>
              </a:spcAft>
              <a:buNone/>
            </a:pPr>
            <a:r>
              <a:rPr lang="en-US" sz="1500" b="1" kern="100" dirty="0">
                <a:effectLst/>
                <a:latin typeface="Times New Roman" panose="02020603050405020304" pitchFamily="18" charset="0"/>
                <a:ea typeface="Calibri" panose="020F0502020204030204" pitchFamily="34" charset="0"/>
                <a:cs typeface="Times New Roman" panose="02020603050405020304" pitchFamily="18" charset="0"/>
              </a:rPr>
              <a:t>Research Gap</a:t>
            </a:r>
            <a:endParaRPr lang="en-US" sz="1500" kern="1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50000"/>
              </a:lnSpc>
              <a:spcAft>
                <a:spcPts val="1000"/>
              </a:spcAft>
              <a:buNone/>
            </a:pPr>
            <a:r>
              <a:rPr lang="en-US" sz="1500" kern="100" dirty="0">
                <a:effectLst/>
                <a:latin typeface="Times New Roman" panose="02020603050405020304" pitchFamily="18" charset="0"/>
                <a:ea typeface="Calibri" panose="020F0502020204030204" pitchFamily="34" charset="0"/>
                <a:cs typeface="Times New Roman" panose="02020603050405020304" pitchFamily="18" charset="0"/>
              </a:rPr>
              <a:t>Existing studies evaluate different datasets and methodologies, making direct comparison difficult. Therefore, this study compares selected machine learning methods using a common historical rainfall and river observation dataset with a consistent evaluation framework.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196842" y="23262"/>
            <a:ext cx="1800225" cy="518795"/>
          </a:xfrm>
          <a:prstGeom prst="rect">
            <a:avLst/>
          </a:prstGeom>
        </p:spPr>
        <p:txBody>
          <a:bodyPr vert="horz" wrap="square" lIns="0" tIns="17145" rIns="0" bIns="0" rtlCol="0">
            <a:spAutoFit/>
          </a:bodyPr>
          <a:lstStyle/>
          <a:p>
            <a:pPr marL="12700">
              <a:lnSpc>
                <a:spcPct val="100000"/>
              </a:lnSpc>
              <a:spcBef>
                <a:spcPts val="135"/>
              </a:spcBef>
            </a:pPr>
            <a:r>
              <a:rPr sz="3200" dirty="0"/>
              <a:t>Next</a:t>
            </a:r>
            <a:r>
              <a:rPr sz="3200" spc="5" dirty="0"/>
              <a:t> </a:t>
            </a:r>
            <a:r>
              <a:rPr sz="3200" spc="-20" dirty="0"/>
              <a:t>Steps</a:t>
            </a:r>
            <a:endParaRPr sz="3200"/>
          </a:p>
        </p:txBody>
      </p:sp>
      <p:sp>
        <p:nvSpPr>
          <p:cNvPr id="3" name="object 3"/>
          <p:cNvSpPr txBox="1"/>
          <p:nvPr/>
        </p:nvSpPr>
        <p:spPr>
          <a:xfrm>
            <a:off x="48061" y="508396"/>
            <a:ext cx="11111230" cy="6181820"/>
          </a:xfrm>
          <a:prstGeom prst="rect">
            <a:avLst/>
          </a:prstGeom>
        </p:spPr>
        <p:txBody>
          <a:bodyPr vert="horz" wrap="square" lIns="0" tIns="241935" rIns="0" bIns="0" rtlCol="0">
            <a:spAutoFit/>
          </a:bodyPr>
          <a:lstStyle/>
          <a:p>
            <a:r>
              <a:rPr lang="en-US" sz="1800" b="1" dirty="0"/>
              <a:t>Project Progress</a:t>
            </a:r>
            <a:endParaRPr lang="en-US" sz="1800" dirty="0"/>
          </a:p>
          <a:p>
            <a:r>
              <a:rPr lang="en-US" sz="1800" b="1" dirty="0"/>
              <a:t>Completed</a:t>
            </a:r>
            <a:endParaRPr lang="en-US" sz="1800" dirty="0"/>
          </a:p>
          <a:p>
            <a:pPr marL="285750" lvl="0" indent="-285750">
              <a:buFont typeface="Arial" panose="020B0604020202020204" pitchFamily="34" charset="0"/>
              <a:buChar char="•"/>
            </a:pPr>
            <a:r>
              <a:rPr lang="en-US" sz="1800" dirty="0"/>
              <a:t>Proposal approval and project planning </a:t>
            </a:r>
          </a:p>
          <a:p>
            <a:pPr marL="285750" lvl="0" indent="-285750">
              <a:buFont typeface="Arial" panose="020B0604020202020204" pitchFamily="34" charset="0"/>
              <a:buChar char="•"/>
            </a:pPr>
            <a:r>
              <a:rPr lang="en-US" sz="1800" dirty="0"/>
              <a:t>Literature review and technology review </a:t>
            </a:r>
          </a:p>
          <a:p>
            <a:pPr marL="285750" lvl="0" indent="-285750">
              <a:buFont typeface="Arial" panose="020B0604020202020204" pitchFamily="34" charset="0"/>
              <a:buChar char="•"/>
            </a:pPr>
            <a:r>
              <a:rPr lang="en-US" sz="1800" dirty="0"/>
              <a:t>Research gap identification </a:t>
            </a:r>
          </a:p>
          <a:p>
            <a:pPr marL="285750" lvl="0" indent="-285750">
              <a:buFont typeface="Arial" panose="020B0604020202020204" pitchFamily="34" charset="0"/>
              <a:buChar char="•"/>
            </a:pPr>
            <a:r>
              <a:rPr lang="en-US" sz="1800" dirty="0"/>
              <a:t>Dataset selection and methodology design </a:t>
            </a:r>
          </a:p>
          <a:p>
            <a:r>
              <a:rPr lang="en-US" sz="1800" b="1" dirty="0"/>
              <a:t> Current Stage</a:t>
            </a:r>
            <a:endParaRPr lang="en-US" sz="1800" dirty="0"/>
          </a:p>
          <a:p>
            <a:pPr marL="285750" lvl="0" indent="-285750">
              <a:buFont typeface="Arial" panose="020B0604020202020204" pitchFamily="34" charset="0"/>
              <a:buChar char="•"/>
            </a:pPr>
            <a:r>
              <a:rPr lang="en-US" sz="1800" dirty="0"/>
              <a:t>Data preprocessing and quality assessment </a:t>
            </a:r>
          </a:p>
          <a:p>
            <a:pPr marL="285750" lvl="0" indent="-285750">
              <a:buFont typeface="Arial" panose="020B0604020202020204" pitchFamily="34" charset="0"/>
              <a:buChar char="•"/>
            </a:pPr>
            <a:r>
              <a:rPr lang="en-US" sz="1800" dirty="0"/>
              <a:t>Exploratory data analysis (EDA) </a:t>
            </a:r>
          </a:p>
          <a:p>
            <a:pPr marL="285750" lvl="0" indent="-285750">
              <a:buFont typeface="Arial" panose="020B0604020202020204" pitchFamily="34" charset="0"/>
              <a:buChar char="•"/>
            </a:pPr>
            <a:r>
              <a:rPr lang="en-US" sz="1800" dirty="0"/>
              <a:t>Feature engineering </a:t>
            </a:r>
          </a:p>
          <a:p>
            <a:r>
              <a:rPr lang="en-US" sz="1800" b="1" dirty="0"/>
              <a:t>Remaining Work</a:t>
            </a:r>
            <a:endParaRPr lang="en-US" sz="1800" dirty="0"/>
          </a:p>
          <a:p>
            <a:pPr marL="285750" lvl="0" indent="-285750">
              <a:buFont typeface="Arial" panose="020B0604020202020204" pitchFamily="34" charset="0"/>
              <a:buChar char="•"/>
            </a:pPr>
            <a:r>
              <a:rPr lang="en-US" sz="1800" dirty="0"/>
              <a:t>Develop and compare machine learning models </a:t>
            </a:r>
          </a:p>
          <a:p>
            <a:pPr marL="285750" lvl="0" indent="-285750">
              <a:buFont typeface="Arial" panose="020B0604020202020204" pitchFamily="34" charset="0"/>
              <a:buChar char="•"/>
            </a:pPr>
            <a:r>
              <a:rPr lang="en-US" sz="1800" dirty="0"/>
              <a:t>Evaluate model performance using classification metrics </a:t>
            </a:r>
          </a:p>
          <a:p>
            <a:pPr marL="285750" lvl="0" indent="-285750">
              <a:buFont typeface="Arial" panose="020B0604020202020204" pitchFamily="34" charset="0"/>
              <a:buChar char="•"/>
            </a:pPr>
            <a:r>
              <a:rPr lang="en-US" sz="1800" dirty="0"/>
              <a:t>Interpret findings and prepare the discussion chapter </a:t>
            </a:r>
          </a:p>
          <a:p>
            <a:pPr marL="285750" lvl="0" indent="-285750">
              <a:buFont typeface="Arial" panose="020B0604020202020204" pitchFamily="34" charset="0"/>
              <a:buChar char="•"/>
            </a:pPr>
            <a:r>
              <a:rPr lang="en-US" sz="1800" dirty="0"/>
              <a:t>Complete dissertation writing and final submission </a:t>
            </a:r>
          </a:p>
          <a:p>
            <a:r>
              <a:rPr lang="en-US" sz="1800" b="1" dirty="0"/>
              <a:t> Potential Challenges</a:t>
            </a:r>
            <a:endParaRPr lang="en-US" sz="1800" dirty="0"/>
          </a:p>
          <a:p>
            <a:pPr marL="285750" lvl="0" indent="-285750">
              <a:buFont typeface="Arial" panose="020B0604020202020204" pitchFamily="34" charset="0"/>
              <a:buChar char="•"/>
            </a:pPr>
            <a:r>
              <a:rPr lang="en-US" sz="1800" dirty="0"/>
              <a:t>Ensuring data quality and handling missing values </a:t>
            </a:r>
          </a:p>
          <a:p>
            <a:pPr marL="285750" lvl="0" indent="-285750">
              <a:buFont typeface="Arial" panose="020B0604020202020204" pitchFamily="34" charset="0"/>
              <a:buChar char="•"/>
            </a:pPr>
            <a:r>
              <a:rPr lang="en-US" sz="1800" dirty="0"/>
              <a:t>Selecting optimal model parameters </a:t>
            </a:r>
          </a:p>
          <a:p>
            <a:pPr marL="285750" lvl="0" indent="-285750">
              <a:buFont typeface="Arial" panose="020B0604020202020204" pitchFamily="34" charset="0"/>
              <a:buChar char="•"/>
            </a:pPr>
            <a:r>
              <a:rPr lang="en-US" sz="1800" dirty="0"/>
              <a:t>Managing computational time for model comparison </a:t>
            </a:r>
          </a:p>
          <a:p>
            <a:pPr marL="12700">
              <a:lnSpc>
                <a:spcPct val="100000"/>
              </a:lnSpc>
              <a:spcBef>
                <a:spcPts val="1905"/>
              </a:spcBef>
              <a:buClr>
                <a:srgbClr val="B40000"/>
              </a:buClr>
              <a:buSzPct val="75000"/>
              <a:tabLst>
                <a:tab pos="469265" algn="l"/>
              </a:tabLst>
            </a:pPr>
            <a:endParaRPr sz="2800" dirty="0">
              <a:latin typeface="Tahoma"/>
              <a:cs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2B8C2-106F-99DA-793F-55E330B4BEBE}"/>
              </a:ext>
            </a:extLst>
          </p:cNvPr>
          <p:cNvSpPr>
            <a:spLocks noGrp="1"/>
          </p:cNvSpPr>
          <p:nvPr>
            <p:ph type="title"/>
          </p:nvPr>
        </p:nvSpPr>
        <p:spPr>
          <a:xfrm>
            <a:off x="3880402" y="23262"/>
            <a:ext cx="4418494" cy="553998"/>
          </a:xfrm>
        </p:spPr>
        <p:txBody>
          <a:bodyPr/>
          <a:lstStyle/>
          <a:p>
            <a:r>
              <a:rPr lang="en-US" dirty="0"/>
              <a:t>References</a:t>
            </a:r>
          </a:p>
        </p:txBody>
      </p:sp>
      <p:sp>
        <p:nvSpPr>
          <p:cNvPr id="3" name="Text Placeholder 2">
            <a:extLst>
              <a:ext uri="{FF2B5EF4-FFF2-40B4-BE49-F238E27FC236}">
                <a16:creationId xmlns:a16="http://schemas.microsoft.com/office/drawing/2014/main" id="{E7BB2585-58E6-4E9F-1A82-5A547448D1AF}"/>
              </a:ext>
            </a:extLst>
          </p:cNvPr>
          <p:cNvSpPr>
            <a:spLocks noGrp="1"/>
          </p:cNvSpPr>
          <p:nvPr>
            <p:ph type="body" idx="1"/>
          </p:nvPr>
        </p:nvSpPr>
        <p:spPr>
          <a:xfrm>
            <a:off x="298450" y="762000"/>
            <a:ext cx="11049000" cy="6647974"/>
          </a:xfrm>
        </p:spPr>
        <p:txBody>
          <a:bodyPr/>
          <a:lstStyle/>
          <a:p>
            <a:r>
              <a:rPr lang="en-US" sz="1800" dirty="0"/>
              <a:t>[1] Islam, T., Zeleke, E.B., Afroz, M. and Melesse, A.M., 2025. A systematic review of urban flood susceptibility mapping: Remote sensing, machine learning, and other modeling approaches. Remote Sensing, 17(3), p.524.</a:t>
            </a:r>
          </a:p>
          <a:p>
            <a:r>
              <a:rPr lang="en-US" sz="1800" dirty="0"/>
              <a:t>[2] Oddo, P.C., Bolten, J.D., Kumar, S.V. and Cleary, B., 2024. Deep Convolutional LSTM for improved flash flood prediction. Frontiers in Water, 6, p.1346104.</a:t>
            </a:r>
          </a:p>
          <a:p>
            <a:r>
              <a:rPr lang="en-US" sz="1800" dirty="0"/>
              <a:t>[3] McEachran, Z., Ghosh, R., Renganathan, A., Sharma, S., Lindsay, K., Steinbach, M., Nieber, J., Duffy, C. and Kumar, V., 2025. Knowledge‐guided machine learning for operational flood forecasting. Water Resources Research, 61(11), p.e2024WR039064.</a:t>
            </a:r>
          </a:p>
          <a:p>
            <a:r>
              <a:rPr lang="en-US" sz="1800" dirty="0"/>
              <a:t>[4] Ren, H., Pang, B., Bai, P., Zhao, G., Liu, S., Liu, Y. and Li, M., 2024. Flood susceptibility assessment with random sampling strategy in ensemble learning (RF and </a:t>
            </a:r>
            <a:r>
              <a:rPr lang="en-US" sz="1800" dirty="0" err="1"/>
              <a:t>XGBoost</a:t>
            </a:r>
            <a:r>
              <a:rPr lang="en-US" sz="1800" dirty="0"/>
              <a:t>). Remote Sensing, 16(2), p.320.</a:t>
            </a:r>
          </a:p>
          <a:p>
            <a:r>
              <a:rPr lang="en-US" sz="1800" dirty="0"/>
              <a:t>[5] Hajji, S., </a:t>
            </a:r>
            <a:r>
              <a:rPr lang="en-US" sz="1800" dirty="0" err="1"/>
              <a:t>Krimissa</a:t>
            </a:r>
            <a:r>
              <a:rPr lang="en-US" sz="1800" dirty="0"/>
              <a:t>, S., Abdelrahman, K., </a:t>
            </a:r>
            <a:r>
              <a:rPr lang="en-US" sz="1800" dirty="0" err="1"/>
              <a:t>Boudhar</a:t>
            </a:r>
            <a:r>
              <a:rPr lang="en-US" sz="1800" dirty="0"/>
              <a:t>, A., </a:t>
            </a:r>
            <a:r>
              <a:rPr lang="en-US" sz="1800" dirty="0" err="1"/>
              <a:t>Elaloui</a:t>
            </a:r>
            <a:r>
              <a:rPr lang="en-US" sz="1800" dirty="0"/>
              <a:t>, A., Ismaili, M., El </a:t>
            </a:r>
            <a:r>
              <a:rPr lang="en-US" sz="1800" dirty="0" err="1"/>
              <a:t>Bouzekraoui</a:t>
            </a:r>
            <a:r>
              <a:rPr lang="en-US" sz="1800" dirty="0"/>
              <a:t>, M., Chikh </a:t>
            </a:r>
            <a:r>
              <a:rPr lang="en-US" sz="1800" dirty="0" err="1"/>
              <a:t>Essbiti</a:t>
            </a:r>
            <a:r>
              <a:rPr lang="en-US" sz="1800" dirty="0"/>
              <a:t>, M., Kahal, A.Y., Mondal, B.K. and </a:t>
            </a:r>
            <a:r>
              <a:rPr lang="en-US" sz="1800" dirty="0" err="1"/>
              <a:t>Namous</a:t>
            </a:r>
            <a:r>
              <a:rPr lang="en-US" sz="1800" dirty="0"/>
              <a:t>, M., 2025. Enhancing flood prediction through remote sensing, machine learning, and Google Earth Engine. Frontiers in Water, 7, p.1514047.</a:t>
            </a:r>
          </a:p>
          <a:p>
            <a:r>
              <a:rPr lang="en-US" sz="1800" dirty="0"/>
              <a:t>[6] Zhang, Y., Wei, Y., Yao, R., Sun, P., Zhen, N. and Xia, X., 2025. Data uncertainty of flood susceptibility using non-flood samples. Remote Sensing, 17(3), p.375.</a:t>
            </a:r>
          </a:p>
          <a:p>
            <a:r>
              <a:rPr lang="en-US" sz="1800" dirty="0"/>
              <a:t>[7] Munawar, H.S., Hammad, A.W. and Waller, S.T., 2022. Remote sensing methods for flood prediction: A review. Sensors, 22(3), p.960.</a:t>
            </a:r>
          </a:p>
          <a:p>
            <a:r>
              <a:rPr lang="en-US" sz="1800" dirty="0"/>
              <a:t>[8] Kumar, V., </a:t>
            </a:r>
            <a:r>
              <a:rPr lang="en-US" sz="1800" dirty="0" err="1"/>
              <a:t>Azamathulla</a:t>
            </a:r>
            <a:r>
              <a:rPr lang="en-US" sz="1800" dirty="0"/>
              <a:t>, H.M., Sharma, K.V., Mehta, D.J. and Maharaj, K.T., 2023. The state of the art in deep learning applications, challenges, and future prospects: A comprehensive review of flood forecasting and management. Sustainability, 15(13), p.10543.</a:t>
            </a:r>
          </a:p>
          <a:p>
            <a:r>
              <a:rPr lang="en-US" sz="1800" dirty="0"/>
              <a:t>[9] Byaruhanga, N., Kibirige, D., Gokool, S. and </a:t>
            </a:r>
            <a:r>
              <a:rPr lang="en-US" sz="1800" dirty="0" err="1"/>
              <a:t>Mkhonta</a:t>
            </a:r>
            <a:r>
              <a:rPr lang="en-US" sz="1800" dirty="0"/>
              <a:t>, G., 2024. Evolution of flood prediction and forecasting models for flood early warning systems: A scoping review. Water, 16(13), p.1763.</a:t>
            </a:r>
          </a:p>
          <a:p>
            <a:endParaRPr lang="en-US" sz="1800" dirty="0"/>
          </a:p>
          <a:p>
            <a:endParaRPr lang="en-US" sz="1800" dirty="0"/>
          </a:p>
        </p:txBody>
      </p:sp>
    </p:spTree>
    <p:extLst>
      <p:ext uri="{BB962C8B-B14F-4D97-AF65-F5344CB8AC3E}">
        <p14:creationId xmlns:p14="http://schemas.microsoft.com/office/powerpoint/2010/main" val="17288924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258</TotalTime>
  <Words>1822</Words>
  <Application>Microsoft Office PowerPoint</Application>
  <PresentationFormat>Custom</PresentationFormat>
  <Paragraphs>151</Paragraphs>
  <Slides>10</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Arial MT</vt:lpstr>
      <vt:lpstr>Calibri</vt:lpstr>
      <vt:lpstr>Lucida Sans Unicode</vt:lpstr>
      <vt:lpstr>Symbol</vt:lpstr>
      <vt:lpstr>Tahoma</vt:lpstr>
      <vt:lpstr>Times New Roman</vt:lpstr>
      <vt:lpstr>Office Theme</vt:lpstr>
      <vt:lpstr>MSc Project</vt:lpstr>
      <vt:lpstr>Outline</vt:lpstr>
      <vt:lpstr>Analysing Machine Learning Methods for Predicting Flood Risk Using Historical Rainfall and River Observation Data</vt:lpstr>
      <vt:lpstr>Problem Statement - WHY</vt:lpstr>
      <vt:lpstr>Aim and Objective - WHAT</vt:lpstr>
      <vt:lpstr>Methodology - HOW</vt:lpstr>
      <vt:lpstr>Project Management</vt:lpstr>
      <vt:lpstr>Literature Review</vt:lpstr>
      <vt:lpstr>Next Steps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8</cp:revision>
  <dcterms:created xsi:type="dcterms:W3CDTF">2026-07-16T04:26:10Z</dcterms:created>
  <dcterms:modified xsi:type="dcterms:W3CDTF">2026-07-16T10:00:06Z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2026-07-16T00:00:00Z</vt:filetime>
  </property>
  <property fmtid="{D5CDD505-2E9C-101B-9397-08002B2CF9AE}" pid="4" name="Producer">
    <vt:lpwstr>Skia/PDF m136</vt:lpwstr>
  </property>
  <property fmtid="{D5CDD505-2E9C-101B-9397-08002B2CF9AE}" pid="5" name="LastSaved">
    <vt:filetime>2026-07-16T00:00:00Z</vt:filetime>
  </property>
</Properties>
</file>